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90" r:id="rId1"/>
  </p:sldMasterIdLst>
  <p:notesMasterIdLst>
    <p:notesMasterId r:id="rId36"/>
  </p:notesMasterIdLst>
  <p:handoutMasterIdLst>
    <p:handoutMasterId r:id="rId37"/>
  </p:handoutMasterIdLst>
  <p:sldIdLst>
    <p:sldId id="256" r:id="rId2"/>
    <p:sldId id="257" r:id="rId3"/>
    <p:sldId id="357" r:id="rId4"/>
    <p:sldId id="343" r:id="rId5"/>
    <p:sldId id="441" r:id="rId6"/>
    <p:sldId id="446" r:id="rId7"/>
    <p:sldId id="448" r:id="rId8"/>
    <p:sldId id="442" r:id="rId9"/>
    <p:sldId id="443" r:id="rId10"/>
    <p:sldId id="453" r:id="rId11"/>
    <p:sldId id="454" r:id="rId12"/>
    <p:sldId id="451" r:id="rId13"/>
    <p:sldId id="445" r:id="rId14"/>
    <p:sldId id="452" r:id="rId15"/>
    <p:sldId id="455" r:id="rId16"/>
    <p:sldId id="456" r:id="rId17"/>
    <p:sldId id="444" r:id="rId18"/>
    <p:sldId id="457" r:id="rId19"/>
    <p:sldId id="458" r:id="rId20"/>
    <p:sldId id="459" r:id="rId21"/>
    <p:sldId id="449" r:id="rId22"/>
    <p:sldId id="450" r:id="rId23"/>
    <p:sldId id="462" r:id="rId24"/>
    <p:sldId id="359" r:id="rId25"/>
    <p:sldId id="461" r:id="rId26"/>
    <p:sldId id="460" r:id="rId27"/>
    <p:sldId id="362" r:id="rId28"/>
    <p:sldId id="361" r:id="rId29"/>
    <p:sldId id="363" r:id="rId30"/>
    <p:sldId id="365" r:id="rId31"/>
    <p:sldId id="366" r:id="rId32"/>
    <p:sldId id="364" r:id="rId33"/>
    <p:sldId id="367" r:id="rId34"/>
    <p:sldId id="358" r:id="rId35"/>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userDrawn="1">
          <p15:clr>
            <a:srgbClr val="A4A3A4"/>
          </p15:clr>
        </p15:guide>
        <p15:guide id="2" pos="2282" userDrawn="1">
          <p15:clr>
            <a:srgbClr val="A4A3A4"/>
          </p15:clr>
        </p15:guide>
        <p15:guide id="3" orient="horz" pos="2928" userDrawn="1">
          <p15:clr>
            <a:srgbClr val="A4A3A4"/>
          </p15:clr>
        </p15:guide>
        <p15:guide id="4"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g" initials="G" lastIdx="13" clrIdx="0"/>
  <p:cmAuthor id="1" name="Tatiana" initials="T" lastIdx="13" clrIdx="1"/>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474C55"/>
    <a:srgbClr val="669A91"/>
    <a:srgbClr val="9171A7"/>
    <a:srgbClr val="CCCC00"/>
    <a:srgbClr val="B07750"/>
    <a:srgbClr val="AC545C"/>
    <a:srgbClr val="33CCCC"/>
    <a:srgbClr val="9966FF"/>
    <a:srgbClr val="6168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6389" autoAdjust="0"/>
  </p:normalViewPr>
  <p:slideViewPr>
    <p:cSldViewPr snapToGrid="0">
      <p:cViewPr varScale="1">
        <p:scale>
          <a:sx n="95" d="100"/>
          <a:sy n="95" d="100"/>
        </p:scale>
        <p:origin x="2046" y="96"/>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outlineViewPr>
    <p:cViewPr>
      <p:scale>
        <a:sx n="33" d="100"/>
        <a:sy n="33" d="100"/>
      </p:scale>
      <p:origin x="0" y="-8900"/>
    </p:cViewPr>
  </p:outlineViewPr>
  <p:notesTextViewPr>
    <p:cViewPr>
      <p:scale>
        <a:sx n="1" d="1"/>
        <a:sy n="1" d="1"/>
      </p:scale>
      <p:origin x="0" y="0"/>
    </p:cViewPr>
  </p:notesTextViewPr>
  <p:sorterViewPr>
    <p:cViewPr varScale="1">
      <p:scale>
        <a:sx n="1" d="1"/>
        <a:sy n="1" d="1"/>
      </p:scale>
      <p:origin x="0" y="0"/>
    </p:cViewPr>
  </p:sorterViewPr>
  <p:notesViewPr>
    <p:cSldViewPr snapToGrid="0">
      <p:cViewPr>
        <p:scale>
          <a:sx n="100" d="100"/>
          <a:sy n="100" d="100"/>
        </p:scale>
        <p:origin x="3504" y="-48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59" tIns="46579" rIns="93159" bIns="46579" rtlCol="0"/>
          <a:lstStyle>
            <a:lvl1pPr algn="r">
              <a:defRPr sz="1200"/>
            </a:lvl1pPr>
          </a:lstStyle>
          <a:p>
            <a:fld id="{CA869C63-99CE-7C40-A7E9-3930C61B23AB}" type="datetimeFigureOut">
              <a:t>10/30/2026</a:t>
            </a:fld>
            <a:endParaRPr lang="en-US" dirty="0"/>
          </a:p>
        </p:txBody>
      </p:sp>
      <p:sp>
        <p:nvSpPr>
          <p:cNvPr id="4" name="Footer Placeholder 3"/>
          <p:cNvSpPr>
            <a:spLocks noGrp="1"/>
          </p:cNvSpPr>
          <p:nvPr>
            <p:ph type="ftr" sz="quarter" idx="2"/>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5"/>
            <a:ext cx="3037840" cy="464820"/>
          </a:xfrm>
          <a:prstGeom prst="rect">
            <a:avLst/>
          </a:prstGeom>
        </p:spPr>
        <p:txBody>
          <a:bodyPr vert="horz" lIns="93159" tIns="46579" rIns="93159" bIns="46579" rtlCol="0" anchor="b"/>
          <a:lstStyle>
            <a:lvl1pPr algn="r">
              <a:defRPr sz="1200"/>
            </a:lvl1pPr>
          </a:lstStyle>
          <a:p>
            <a:fld id="{155B6EDB-6C4A-2346-91D8-76F2620B19F2}" type="slidenum">
              <a:t>‹#›</a:t>
            </a:fld>
            <a:endParaRPr lang="en-US" dirty="0"/>
          </a:p>
        </p:txBody>
      </p:sp>
    </p:spTree>
    <p:extLst>
      <p:ext uri="{BB962C8B-B14F-4D97-AF65-F5344CB8AC3E}">
        <p14:creationId xmlns:p14="http://schemas.microsoft.com/office/powerpoint/2010/main" val="368652477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3159" tIns="46579" rIns="93159" bIns="46579"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59" tIns="46579" rIns="93159" bIns="46579" rtlCol="0"/>
          <a:lstStyle>
            <a:lvl1pPr algn="r">
              <a:defRPr sz="1200"/>
            </a:lvl1pPr>
          </a:lstStyle>
          <a:p>
            <a:fld id="{E3E59D94-626A-4CE8-9932-5221A04BF234}" type="datetimeFigureOut">
              <a:rPr lang="en-US" smtClean="0"/>
              <a:t>10/30/2026</a:t>
            </a:fld>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59" tIns="46579" rIns="93159" bIns="46579"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59" tIns="46579" rIns="93159" bIns="4657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5"/>
            <a:ext cx="3037840" cy="464820"/>
          </a:xfrm>
          <a:prstGeom prst="rect">
            <a:avLst/>
          </a:prstGeom>
        </p:spPr>
        <p:txBody>
          <a:bodyPr vert="horz" lIns="93159" tIns="46579" rIns="93159" bIns="4657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5"/>
            <a:ext cx="3037840" cy="464820"/>
          </a:xfrm>
          <a:prstGeom prst="rect">
            <a:avLst/>
          </a:prstGeom>
        </p:spPr>
        <p:txBody>
          <a:bodyPr vert="horz" lIns="93159" tIns="46579" rIns="93159" bIns="46579" rtlCol="0" anchor="b"/>
          <a:lstStyle>
            <a:lvl1pPr algn="r">
              <a:defRPr sz="1200"/>
            </a:lvl1pPr>
          </a:lstStyle>
          <a:p>
            <a:fld id="{043CB7BC-4AFB-4847-AC93-5F4E37C870A2}" type="slidenum">
              <a:rPr lang="en-US" smtClean="0"/>
              <a:t>‹#›</a:t>
            </a:fld>
            <a:endParaRPr lang="en-US" dirty="0"/>
          </a:p>
        </p:txBody>
      </p:sp>
    </p:spTree>
    <p:extLst>
      <p:ext uri="{BB962C8B-B14F-4D97-AF65-F5344CB8AC3E}">
        <p14:creationId xmlns:p14="http://schemas.microsoft.com/office/powerpoint/2010/main" val="180791407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3CB7BC-4AFB-4847-AC93-5F4E37C870A2}" type="slidenum">
              <a:rPr lang="en-US" smtClean="0"/>
              <a:t>4</a:t>
            </a:fld>
            <a:endParaRPr lang="en-US" dirty="0"/>
          </a:p>
        </p:txBody>
      </p:sp>
    </p:spTree>
    <p:extLst>
      <p:ext uri="{BB962C8B-B14F-4D97-AF65-F5344CB8AC3E}">
        <p14:creationId xmlns:p14="http://schemas.microsoft.com/office/powerpoint/2010/main" val="18451192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t="33848" b="649"/>
          <a:stretch/>
        </p:blipFill>
        <p:spPr>
          <a:xfrm>
            <a:off x="-1" y="0"/>
            <a:ext cx="9144002"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accent1"/>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p:cNvSpPr>
            <a:spLocks noGrp="1"/>
          </p:cNvSpPr>
          <p:nvPr>
            <p:ph type="subTitle" idx="1"/>
          </p:nvPr>
        </p:nvSpPr>
        <p:spPr>
          <a:xfrm>
            <a:off x="496176" y="2924299"/>
            <a:ext cx="6814614" cy="1752600"/>
          </a:xfrm>
        </p:spPr>
        <p:txBody>
          <a:bodyPr/>
          <a:lstStyle>
            <a:lvl1pPr marL="0" indent="0" algn="l">
              <a:buNone/>
              <a:defRPr b="1" baseline="0">
                <a:solidFill>
                  <a:schemeClr val="bg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71138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28" name="Picture 27"/>
          <p:cNvPicPr>
            <a:picLocks noChangeAspect="1"/>
          </p:cNvPicPr>
          <p:nvPr userDrawn="1"/>
        </p:nvPicPr>
        <p:blipFill rotWithShape="1">
          <a:blip r:embed="rId2" cstate="print">
            <a:extLst>
              <a:ext uri="{28A0092B-C50C-407E-A947-70E740481C1C}">
                <a14:useLocalDpi xmlns:a14="http://schemas.microsoft.com/office/drawing/2010/main" val="0"/>
              </a:ext>
            </a:extLst>
          </a:blip>
          <a:srcRect t="33086" b="1379"/>
          <a:stretch/>
        </p:blipFill>
        <p:spPr>
          <a:xfrm flipV="1">
            <a:off x="0" y="0"/>
            <a:ext cx="9144000" cy="5030078"/>
          </a:xfrm>
          <a:prstGeom prst="rect">
            <a:avLst/>
          </a:prstGeom>
        </p:spPr>
      </p:pic>
      <p:grpSp>
        <p:nvGrpSpPr>
          <p:cNvPr id="27" name="Group 26"/>
          <p:cNvGrpSpPr/>
          <p:nvPr userDrawn="1"/>
        </p:nvGrpSpPr>
        <p:grpSpPr>
          <a:xfrm>
            <a:off x="496176" y="5451818"/>
            <a:ext cx="3105481" cy="975083"/>
            <a:chOff x="2814452" y="4625522"/>
            <a:chExt cx="5459889" cy="1714337"/>
          </a:xfrm>
        </p:grpSpPr>
        <p:sp>
          <p:nvSpPr>
            <p:cNvPr id="9"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p:cNvSpPr>
            <a:spLocks noGrp="1"/>
          </p:cNvSpPr>
          <p:nvPr>
            <p:ph type="ctrTitle" hasCustomPrompt="1"/>
          </p:nvPr>
        </p:nvSpPr>
        <p:spPr>
          <a:xfrm>
            <a:off x="496177" y="320634"/>
            <a:ext cx="6807148" cy="2543545"/>
          </a:xfrm>
        </p:spPr>
        <p:txBody>
          <a:bodyPr anchor="b"/>
          <a:lstStyle>
            <a:lvl1pPr>
              <a:lnSpc>
                <a:spcPct val="80000"/>
              </a:lnSpc>
              <a:defRPr sz="4400" baseline="0">
                <a:solidFill>
                  <a:schemeClr val="bg1"/>
                </a:solidFill>
                <a:latin typeface="Arial" panose="020B0604020202020204" pitchFamily="34" charset="0"/>
                <a:cs typeface="Arial" panose="020B0604020202020204" pitchFamily="34" charset="0"/>
              </a:defRPr>
            </a:lvl1pPr>
          </a:lstStyle>
          <a:p>
            <a:r>
              <a:rPr lang="en-US" dirty="0"/>
              <a:t>Click to edit master</a:t>
            </a:r>
          </a:p>
        </p:txBody>
      </p:sp>
      <p:sp>
        <p:nvSpPr>
          <p:cNvPr id="3" name="Subtitle 2"/>
          <p:cNvSpPr>
            <a:spLocks noGrp="1"/>
          </p:cNvSpPr>
          <p:nvPr>
            <p:ph type="subTitle" idx="1"/>
          </p:nvPr>
        </p:nvSpPr>
        <p:spPr>
          <a:xfrm>
            <a:off x="496176" y="2924299"/>
            <a:ext cx="6814614" cy="1752600"/>
          </a:xfrm>
        </p:spPr>
        <p:txBody>
          <a:bodyPr/>
          <a:lstStyle>
            <a:lvl1pPr marL="0" indent="0" algn="l">
              <a:buNone/>
              <a:defRPr baseline="0">
                <a:solidFill>
                  <a:schemeClr val="tx2"/>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32161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t="67499" b="6701"/>
          <a:stretch/>
        </p:blipFill>
        <p:spPr>
          <a:xfrm flipV="1">
            <a:off x="0" y="1740436"/>
            <a:ext cx="9144000" cy="1502227"/>
          </a:xfrm>
          <a:prstGeom prst="rect">
            <a:avLst/>
          </a:prstGeom>
        </p:spPr>
      </p:pic>
      <p:pic>
        <p:nvPicPr>
          <p:cNvPr id="7" name="Picture 6"/>
          <p:cNvPicPr>
            <a:picLocks noChangeAspect="1"/>
          </p:cNvPicPr>
          <p:nvPr userDrawn="1"/>
        </p:nvPicPr>
        <p:blipFill rotWithShape="1">
          <a:blip r:embed="rId3">
            <a:extLst>
              <a:ext uri="{28A0092B-C50C-407E-A947-70E740481C1C}">
                <a14:useLocalDpi xmlns:a14="http://schemas.microsoft.com/office/drawing/2010/main" val="0"/>
              </a:ext>
            </a:extLst>
          </a:blip>
          <a:srcRect t="24620" b="16130"/>
          <a:stretch/>
        </p:blipFill>
        <p:spPr>
          <a:xfrm flipH="1">
            <a:off x="2766" y="3242663"/>
            <a:ext cx="9144000" cy="3615334"/>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2728903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nodeType="withEffect">
                                  <p:stCondLst>
                                    <p:cond delay="30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750" fill="hold"/>
                                        <p:tgtEl>
                                          <p:spTgt spid="7"/>
                                        </p:tgtEl>
                                        <p:attrNameLst>
                                          <p:attrName>ppt_x</p:attrName>
                                        </p:attrNameLst>
                                      </p:cBhvr>
                                      <p:tavLst>
                                        <p:tav tm="0">
                                          <p:val>
                                            <p:strVal val="0-#ppt_w/2"/>
                                          </p:val>
                                        </p:tav>
                                        <p:tav tm="100000">
                                          <p:val>
                                            <p:strVal val="#ppt_x"/>
                                          </p:val>
                                        </p:tav>
                                      </p:tavLst>
                                    </p:anim>
                                    <p:anim calcmode="lin" valueType="num">
                                      <p:cBhvr additive="base">
                                        <p:cTn id="8" dur="750" fill="hold"/>
                                        <p:tgtEl>
                                          <p:spTgt spid="7"/>
                                        </p:tgtEl>
                                        <p:attrNameLst>
                                          <p:attrName>ppt_y</p:attrName>
                                        </p:attrNameLst>
                                      </p:cBhvr>
                                      <p:tavLst>
                                        <p:tav tm="0">
                                          <p:val>
                                            <p:strVal val="#ppt_y"/>
                                          </p:val>
                                        </p:tav>
                                        <p:tav tm="100000">
                                          <p:val>
                                            <p:strVal val="#ppt_y"/>
                                          </p:val>
                                        </p:tav>
                                      </p:tavLst>
                                    </p:anim>
                                  </p:childTnLst>
                                </p:cTn>
                              </p:par>
                              <p:par>
                                <p:cTn id="9" presetID="2" presetClass="entr" presetSubtype="1" decel="100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750" fill="hold"/>
                                        <p:tgtEl>
                                          <p:spTgt spid="6"/>
                                        </p:tgtEl>
                                        <p:attrNameLst>
                                          <p:attrName>ppt_x</p:attrName>
                                        </p:attrNameLst>
                                      </p:cBhvr>
                                      <p:tavLst>
                                        <p:tav tm="0">
                                          <p:val>
                                            <p:strVal val="#ppt_x"/>
                                          </p:val>
                                        </p:tav>
                                        <p:tav tm="100000">
                                          <p:val>
                                            <p:strVal val="#ppt_x"/>
                                          </p:val>
                                        </p:tav>
                                      </p:tavLst>
                                    </p:anim>
                                    <p:anim calcmode="lin" valueType="num">
                                      <p:cBhvr additive="base">
                                        <p:cTn id="12" dur="75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pic>
        <p:nvPicPr>
          <p:cNvPr id="53" name="Picture 52"/>
          <p:cNvPicPr>
            <a:picLocks noChangeAspect="1"/>
          </p:cNvPicPr>
          <p:nvPr userDrawn="1"/>
        </p:nvPicPr>
        <p:blipFill rotWithShape="1">
          <a:blip r:embed="rId2" cstate="print">
            <a:extLst>
              <a:ext uri="{28A0092B-C50C-407E-A947-70E740481C1C}">
                <a14:useLocalDpi xmlns:a14="http://schemas.microsoft.com/office/drawing/2010/main" val="0"/>
              </a:ext>
            </a:extLst>
          </a:blip>
          <a:srcRect l="6615" t="2065" r="80083" b="1471"/>
          <a:stretch/>
        </p:blipFill>
        <p:spPr>
          <a:xfrm rot="5400000">
            <a:off x="3820885" y="-2080448"/>
            <a:ext cx="1502227" cy="9143997"/>
          </a:xfrm>
          <a:prstGeom prst="rect">
            <a:avLst/>
          </a:prstGeom>
        </p:spPr>
      </p:pic>
      <p:pic>
        <p:nvPicPr>
          <p:cNvPr id="54" name="Picture 53"/>
          <p:cNvPicPr>
            <a:picLocks noChangeAspect="1"/>
          </p:cNvPicPr>
          <p:nvPr userDrawn="1"/>
        </p:nvPicPr>
        <p:blipFill rotWithShape="1">
          <a:blip r:embed="rId3" cstate="print">
            <a:extLst>
              <a:ext uri="{28A0092B-C50C-407E-A947-70E740481C1C}">
                <a14:useLocalDpi xmlns:a14="http://schemas.microsoft.com/office/drawing/2010/main" val="0"/>
              </a:ext>
            </a:extLst>
          </a:blip>
          <a:srcRect t="20282" b="20282"/>
          <a:stretch/>
        </p:blipFill>
        <p:spPr>
          <a:xfrm>
            <a:off x="0" y="3242662"/>
            <a:ext cx="9144000" cy="3623223"/>
          </a:xfrm>
          <a:prstGeom prst="rect">
            <a:avLst/>
          </a:prstGeom>
        </p:spPr>
      </p:pic>
      <p:sp>
        <p:nvSpPr>
          <p:cNvPr id="9" name="Rectangle 8"/>
          <p:cNvSpPr/>
          <p:nvPr userDrawn="1"/>
        </p:nvSpPr>
        <p:spPr>
          <a:xfrm>
            <a:off x="-3" y="0"/>
            <a:ext cx="9143999" cy="174043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496176" y="382676"/>
            <a:ext cx="3105481" cy="975083"/>
            <a:chOff x="2814452" y="4625522"/>
            <a:chExt cx="5459889" cy="1714337"/>
          </a:xfrm>
        </p:grpSpPr>
        <p:sp>
          <p:nvSpPr>
            <p:cNvPr id="11" name="Freeform 6"/>
            <p:cNvSpPr>
              <a:spLocks noEditPoints="1"/>
            </p:cNvSpPr>
            <p:nvPr userDrawn="1"/>
          </p:nvSpPr>
          <p:spPr bwMode="auto">
            <a:xfrm>
              <a:off x="2814452" y="5818063"/>
              <a:ext cx="523694" cy="508514"/>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467172" y="5818063"/>
              <a:ext cx="462976" cy="508514"/>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p:cNvSpPr>
            <p:nvPr userDrawn="1"/>
          </p:nvSpPr>
          <p:spPr bwMode="auto">
            <a:xfrm>
              <a:off x="4041148" y="5818063"/>
              <a:ext cx="541720" cy="508514"/>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userDrawn="1"/>
          </p:nvSpPr>
          <p:spPr bwMode="auto">
            <a:xfrm>
              <a:off x="4582868" y="5818063"/>
              <a:ext cx="608130" cy="508514"/>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5169177" y="5818063"/>
              <a:ext cx="555002" cy="508514"/>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1"/>
            <p:cNvSpPr>
              <a:spLocks/>
            </p:cNvSpPr>
            <p:nvPr userDrawn="1"/>
          </p:nvSpPr>
          <p:spPr bwMode="auto">
            <a:xfrm>
              <a:off x="5831384" y="5818063"/>
              <a:ext cx="541720" cy="521796"/>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2"/>
            <p:cNvSpPr>
              <a:spLocks noEditPoints="1"/>
            </p:cNvSpPr>
            <p:nvPr userDrawn="1"/>
          </p:nvSpPr>
          <p:spPr bwMode="auto">
            <a:xfrm>
              <a:off x="6530592" y="5818063"/>
              <a:ext cx="521796" cy="508514"/>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3"/>
            <p:cNvSpPr>
              <a:spLocks/>
            </p:cNvSpPr>
            <p:nvPr userDrawn="1"/>
          </p:nvSpPr>
          <p:spPr bwMode="auto">
            <a:xfrm>
              <a:off x="7183312" y="5818063"/>
              <a:ext cx="462976" cy="508514"/>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4"/>
            <p:cNvSpPr>
              <a:spLocks/>
            </p:cNvSpPr>
            <p:nvPr userDrawn="1"/>
          </p:nvSpPr>
          <p:spPr bwMode="auto">
            <a:xfrm>
              <a:off x="4647381" y="5515421"/>
              <a:ext cx="91077" cy="87282"/>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5"/>
            <p:cNvSpPr>
              <a:spLocks/>
            </p:cNvSpPr>
            <p:nvPr userDrawn="1"/>
          </p:nvSpPr>
          <p:spPr bwMode="auto">
            <a:xfrm>
              <a:off x="4937689" y="5235549"/>
              <a:ext cx="130923" cy="157487"/>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6"/>
            <p:cNvSpPr>
              <a:spLocks/>
            </p:cNvSpPr>
            <p:nvPr userDrawn="1"/>
          </p:nvSpPr>
          <p:spPr bwMode="auto">
            <a:xfrm>
              <a:off x="5278280" y="5018292"/>
              <a:ext cx="132821" cy="243821"/>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7"/>
            <p:cNvSpPr>
              <a:spLocks/>
            </p:cNvSpPr>
            <p:nvPr userDrawn="1"/>
          </p:nvSpPr>
          <p:spPr bwMode="auto">
            <a:xfrm>
              <a:off x="5649230" y="4842779"/>
              <a:ext cx="112898" cy="335847"/>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8"/>
            <p:cNvSpPr>
              <a:spLocks/>
            </p:cNvSpPr>
            <p:nvPr userDrawn="1"/>
          </p:nvSpPr>
          <p:spPr bwMode="auto">
            <a:xfrm>
              <a:off x="6026821" y="4720394"/>
              <a:ext cx="104359" cy="42028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9"/>
            <p:cNvSpPr>
              <a:spLocks/>
            </p:cNvSpPr>
            <p:nvPr userDrawn="1"/>
          </p:nvSpPr>
          <p:spPr bwMode="auto">
            <a:xfrm>
              <a:off x="6384489" y="4647343"/>
              <a:ext cx="162232" cy="497129"/>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0"/>
            <p:cNvSpPr>
              <a:spLocks/>
            </p:cNvSpPr>
            <p:nvPr userDrawn="1"/>
          </p:nvSpPr>
          <p:spPr bwMode="auto">
            <a:xfrm>
              <a:off x="6733618" y="4625522"/>
              <a:ext cx="241924" cy="56828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1"/>
            <p:cNvSpPr>
              <a:spLocks/>
            </p:cNvSpPr>
            <p:nvPr userDrawn="1"/>
          </p:nvSpPr>
          <p:spPr bwMode="auto">
            <a:xfrm>
              <a:off x="7077055" y="4665368"/>
              <a:ext cx="333950" cy="621412"/>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2"/>
            <p:cNvSpPr>
              <a:spLocks/>
            </p:cNvSpPr>
            <p:nvPr userDrawn="1"/>
          </p:nvSpPr>
          <p:spPr bwMode="auto">
            <a:xfrm>
              <a:off x="7414800" y="4764984"/>
              <a:ext cx="430719" cy="659361"/>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3"/>
            <p:cNvSpPr>
              <a:spLocks/>
            </p:cNvSpPr>
            <p:nvPr userDrawn="1"/>
          </p:nvSpPr>
          <p:spPr bwMode="auto">
            <a:xfrm>
              <a:off x="7730724" y="4924369"/>
              <a:ext cx="543617" cy="68023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0" name="Text Placeholder 29"/>
          <p:cNvSpPr>
            <a:spLocks noGrp="1"/>
          </p:cNvSpPr>
          <p:nvPr>
            <p:ph type="body" sz="quarter" idx="13" hasCustomPrompt="1"/>
          </p:nvPr>
        </p:nvSpPr>
        <p:spPr>
          <a:xfrm>
            <a:off x="323135" y="1846263"/>
            <a:ext cx="8441453" cy="1241425"/>
          </a:xfrm>
        </p:spPr>
        <p:txBody>
          <a:bodyPr anchor="ctr" anchorCtr="0">
            <a:normAutofit/>
          </a:bodyPr>
          <a:lstStyle>
            <a:lvl1pPr marL="0" indent="0">
              <a:buNone/>
              <a:defRPr sz="4000" b="1">
                <a:solidFill>
                  <a:schemeClr val="bg1"/>
                </a:solidFill>
              </a:defRPr>
            </a:lvl1pPr>
          </a:lstStyle>
          <a:p>
            <a:pPr lvl="0"/>
            <a:r>
              <a:rPr lang="en-US" dirty="0"/>
              <a:t>CLICK TO ADD TEXT</a:t>
            </a:r>
          </a:p>
        </p:txBody>
      </p:sp>
    </p:spTree>
    <p:extLst>
      <p:ext uri="{BB962C8B-B14F-4D97-AF65-F5344CB8AC3E}">
        <p14:creationId xmlns:p14="http://schemas.microsoft.com/office/powerpoint/2010/main" val="140989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 calcmode="lin" valueType="num">
                                      <p:cBhvr additive="base">
                                        <p:cTn id="7" dur="750" fill="hold"/>
                                        <p:tgtEl>
                                          <p:spTgt spid="53"/>
                                        </p:tgtEl>
                                        <p:attrNameLst>
                                          <p:attrName>ppt_x</p:attrName>
                                        </p:attrNameLst>
                                      </p:cBhvr>
                                      <p:tavLst>
                                        <p:tav tm="0">
                                          <p:val>
                                            <p:strVal val="#ppt_x"/>
                                          </p:val>
                                        </p:tav>
                                        <p:tav tm="100000">
                                          <p:val>
                                            <p:strVal val="#ppt_x"/>
                                          </p:val>
                                        </p:tav>
                                      </p:tavLst>
                                    </p:anim>
                                    <p:anim calcmode="lin" valueType="num">
                                      <p:cBhvr additive="base">
                                        <p:cTn id="8" dur="750" fill="hold"/>
                                        <p:tgtEl>
                                          <p:spTgt spid="53"/>
                                        </p:tgtEl>
                                        <p:attrNameLst>
                                          <p:attrName>ppt_y</p:attrName>
                                        </p:attrNameLst>
                                      </p:cBhvr>
                                      <p:tavLst>
                                        <p:tav tm="0">
                                          <p:val>
                                            <p:strVal val="0-#ppt_h/2"/>
                                          </p:val>
                                        </p:tav>
                                        <p:tav tm="100000">
                                          <p:val>
                                            <p:strVal val="#ppt_y"/>
                                          </p:val>
                                        </p:tav>
                                      </p:tavLst>
                                    </p:anim>
                                  </p:childTnLst>
                                </p:cTn>
                              </p:par>
                              <p:par>
                                <p:cTn id="9" presetID="2" presetClass="entr" presetSubtype="8" decel="100000" fill="hold" nodeType="withEffect">
                                  <p:stCondLst>
                                    <p:cond delay="30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750" fill="hold"/>
                                        <p:tgtEl>
                                          <p:spTgt spid="54"/>
                                        </p:tgtEl>
                                        <p:attrNameLst>
                                          <p:attrName>ppt_x</p:attrName>
                                        </p:attrNameLst>
                                      </p:cBhvr>
                                      <p:tavLst>
                                        <p:tav tm="0">
                                          <p:val>
                                            <p:strVal val="0-#ppt_w/2"/>
                                          </p:val>
                                        </p:tav>
                                        <p:tav tm="100000">
                                          <p:val>
                                            <p:strVal val="#ppt_x"/>
                                          </p:val>
                                        </p:tav>
                                      </p:tavLst>
                                    </p:anim>
                                    <p:anim calcmode="lin" valueType="num">
                                      <p:cBhvr additive="base">
                                        <p:cTn id="12" dur="750" fill="hold"/>
                                        <p:tgtEl>
                                          <p:spTgt spid="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820702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38001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b="1">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7" name="Content Placeholder 2"/>
          <p:cNvSpPr>
            <a:spLocks noGrp="1"/>
          </p:cNvSpPr>
          <p:nvPr>
            <p:ph idx="13"/>
          </p:nvPr>
        </p:nvSpPr>
        <p:spPr>
          <a:xfrm>
            <a:off x="4644440" y="1481446"/>
            <a:ext cx="4009110" cy="4525963"/>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37227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8" name="Content Placeholder 5"/>
          <p:cNvSpPr>
            <a:spLocks noGrp="1"/>
          </p:cNvSpPr>
          <p:nvPr>
            <p:ph sz="quarter" idx="16" hasCustomPrompt="1"/>
          </p:nvPr>
        </p:nvSpPr>
        <p:spPr>
          <a:xfrm>
            <a:off x="4708408" y="153883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9" name="Content Placeholder 5"/>
          <p:cNvSpPr>
            <a:spLocks noGrp="1"/>
          </p:cNvSpPr>
          <p:nvPr>
            <p:ph sz="quarter" idx="17"/>
          </p:nvPr>
        </p:nvSpPr>
        <p:spPr>
          <a:xfrm>
            <a:off x="351116" y="154035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
        <p:nvSpPr>
          <p:cNvPr id="12" name="Content Placeholder 5"/>
          <p:cNvSpPr>
            <a:spLocks noGrp="1"/>
          </p:cNvSpPr>
          <p:nvPr>
            <p:ph sz="quarter" idx="18" hasCustomPrompt="1"/>
          </p:nvPr>
        </p:nvSpPr>
        <p:spPr>
          <a:xfrm>
            <a:off x="4708408" y="4099159"/>
            <a:ext cx="4107743" cy="2416827"/>
          </a:xfrm>
        </p:spPr>
        <p:txBody>
          <a:bodyPr/>
          <a:lstStyle>
            <a:lvl1pPr marL="176213" indent="-176213" algn="l">
              <a:buClr>
                <a:schemeClr val="accent1"/>
              </a:buClr>
              <a:defRPr sz="2000"/>
            </a:lvl1pPr>
            <a:lvl2pPr marL="396875" indent="-223838" algn="l" defTabSz="452438">
              <a:defRPr sz="1800"/>
            </a:lvl2pPr>
            <a:lvl3pPr algn="l">
              <a:defRPr sz="1600"/>
            </a:lvl3pPr>
            <a:lvl4pPr algn="l">
              <a:defRPr sz="1400"/>
            </a:lvl4pPr>
            <a:lvl5pPr algn="l">
              <a:defRPr sz="1200"/>
            </a:lvl5pPr>
          </a:lstStyle>
          <a:p>
            <a:pPr lvl="0"/>
            <a:r>
              <a:rPr lang="en-US" dirty="0"/>
              <a:t>Click to edit Master text styles</a:t>
            </a:r>
          </a:p>
          <a:p>
            <a:pPr lvl="1"/>
            <a:r>
              <a:rPr lang="en-US" dirty="0"/>
              <a:t>Second level</a:t>
            </a:r>
          </a:p>
        </p:txBody>
      </p:sp>
      <p:sp>
        <p:nvSpPr>
          <p:cNvPr id="13" name="Content Placeholder 5"/>
          <p:cNvSpPr>
            <a:spLocks noGrp="1"/>
          </p:cNvSpPr>
          <p:nvPr>
            <p:ph sz="quarter" idx="19"/>
          </p:nvPr>
        </p:nvSpPr>
        <p:spPr>
          <a:xfrm>
            <a:off x="351116" y="4100678"/>
            <a:ext cx="4113904" cy="2415307"/>
          </a:xfrm>
        </p:spPr>
        <p:txBody>
          <a:bodyPr/>
          <a:lstStyle>
            <a:lvl1pPr marL="176213" indent="-176213" algn="l">
              <a:buClr>
                <a:schemeClr val="accent1"/>
              </a:buClr>
              <a:buFont typeface="Arial" panose="020B0604020202020204" pitchFamily="34" charset="0"/>
              <a:buChar char="•"/>
              <a:defRPr sz="2000"/>
            </a:lvl1pPr>
            <a:lvl2pPr marL="396875" indent="-223838" algn="l" defTabSz="452438">
              <a:buClr>
                <a:schemeClr val="accent1"/>
              </a:buClr>
              <a:defRPr sz="1800"/>
            </a:lvl2pPr>
            <a:lvl3pPr algn="l">
              <a:defRPr sz="1600"/>
            </a:lvl3pPr>
            <a:lvl4pPr algn="l">
              <a:defRPr sz="1400"/>
            </a:lvl4pPr>
            <a:lvl5pPr algn="l">
              <a:defRPr sz="1200"/>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35267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46" name="Content Placeholder 45"/>
          <p:cNvSpPr>
            <a:spLocks noGrp="1"/>
          </p:cNvSpPr>
          <p:nvPr>
            <p:ph sz="quarter" idx="13"/>
          </p:nvPr>
        </p:nvSpPr>
        <p:spPr>
          <a:xfrm>
            <a:off x="157163" y="133350"/>
            <a:ext cx="8826500" cy="5951538"/>
          </a:xfrm>
        </p:spPr>
        <p:txBody>
          <a:bodyPr/>
          <a:lstStyle>
            <a:lvl1pPr marL="0" indent="0">
              <a:buNone/>
              <a:defRPr/>
            </a:lvl1pPr>
          </a:lstStyle>
          <a:p>
            <a:pPr lvl="0"/>
            <a:r>
              <a:rPr lang="en-US"/>
              <a:t>Edit Master text styles</a:t>
            </a:r>
          </a:p>
        </p:txBody>
      </p:sp>
    </p:spTree>
    <p:extLst>
      <p:ext uri="{BB962C8B-B14F-4D97-AF65-F5344CB8AC3E}">
        <p14:creationId xmlns:p14="http://schemas.microsoft.com/office/powerpoint/2010/main" val="1626810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 white">
    <p:spTree>
      <p:nvGrpSpPr>
        <p:cNvPr id="1" name=""/>
        <p:cNvGrpSpPr/>
        <p:nvPr/>
      </p:nvGrpSpPr>
      <p:grpSpPr>
        <a:xfrm>
          <a:off x="0" y="0"/>
          <a:ext cx="0" cy="0"/>
          <a:chOff x="0" y="0"/>
          <a:chExt cx="0" cy="0"/>
        </a:xfrm>
      </p:grpSpPr>
      <p:sp>
        <p:nvSpPr>
          <p:cNvPr id="4" name="Rectangle 3"/>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a:defRPr b="0">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7" name="Group 6"/>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64137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_Title Only">
    <p:spTree>
      <p:nvGrpSpPr>
        <p:cNvPr id="1" name=""/>
        <p:cNvGrpSpPr/>
        <p:nvPr/>
      </p:nvGrpSpPr>
      <p:grpSpPr>
        <a:xfrm>
          <a:off x="0" y="0"/>
          <a:ext cx="0" cy="0"/>
          <a:chOff x="0" y="0"/>
          <a:chExt cx="0" cy="0"/>
        </a:xfrm>
      </p:grpSpPr>
      <p:pic>
        <p:nvPicPr>
          <p:cNvPr id="24" name="Picture 23"/>
          <p:cNvPicPr>
            <a:picLocks noChangeAspect="1"/>
          </p:cNvPicPr>
          <p:nvPr userDrawn="1"/>
        </p:nvPicPr>
        <p:blipFill rotWithShape="1">
          <a:blip r:embed="rId2" cstate="print">
            <a:extLst>
              <a:ext uri="{28A0092B-C50C-407E-A947-70E740481C1C}">
                <a14:useLocalDpi xmlns:a14="http://schemas.microsoft.com/office/drawing/2010/main" val="0"/>
              </a:ext>
            </a:extLst>
          </a:blip>
          <a:srcRect t="91557" b="649"/>
          <a:stretch/>
        </p:blipFill>
        <p:spPr>
          <a:xfrm>
            <a:off x="-1" y="6259484"/>
            <a:ext cx="9144002" cy="598516"/>
          </a:xfrm>
          <a:prstGeom prst="rect">
            <a:avLst/>
          </a:prstGeom>
        </p:spPr>
      </p:pic>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
        <p:nvSpPr>
          <p:cNvPr id="3" name="SmartArt Placeholder 2"/>
          <p:cNvSpPr>
            <a:spLocks noGrp="1"/>
          </p:cNvSpPr>
          <p:nvPr>
            <p:ph type="dgm" sz="quarter" idx="13"/>
          </p:nvPr>
        </p:nvSpPr>
        <p:spPr>
          <a:xfrm>
            <a:off x="133350" y="125413"/>
            <a:ext cx="8850313" cy="6008687"/>
          </a:xfrm>
        </p:spPr>
        <p:txBody>
          <a:bodyPr/>
          <a:lstStyle/>
          <a:p>
            <a:r>
              <a:rPr lang="en-US"/>
              <a:t>Click icon to add SmartArt graphic</a:t>
            </a:r>
          </a:p>
        </p:txBody>
      </p:sp>
    </p:spTree>
    <p:extLst>
      <p:ext uri="{BB962C8B-B14F-4D97-AF65-F5344CB8AC3E}">
        <p14:creationId xmlns:p14="http://schemas.microsoft.com/office/powerpoint/2010/main" val="2998561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sp>
        <p:nvSpPr>
          <p:cNvPr id="2" name="Rectangle 1"/>
          <p:cNvSpPr/>
          <p:nvPr userDrawn="1"/>
        </p:nvSpPr>
        <p:spPr>
          <a:xfrm>
            <a:off x="0" y="6251171"/>
            <a:ext cx="9144000" cy="6068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lvl1pPr>
              <a:defRPr>
                <a:solidFill>
                  <a:schemeClr val="bg1"/>
                </a:solidFill>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7765" y="6367323"/>
            <a:ext cx="1260213" cy="394766"/>
          </a:xfrm>
          <a:prstGeom prst="rect">
            <a:avLst/>
          </a:prstGeom>
        </p:spPr>
      </p:pic>
      <p:sp>
        <p:nvSpPr>
          <p:cNvPr id="7" name="Title 1"/>
          <p:cNvSpPr>
            <a:spLocks noGrp="1"/>
          </p:cNvSpPr>
          <p:nvPr>
            <p:ph type="title"/>
          </p:nvPr>
        </p:nvSpPr>
        <p:spPr>
          <a:xfrm>
            <a:off x="380010" y="-4950"/>
            <a:ext cx="8383980" cy="844535"/>
          </a:xfrm>
        </p:spPr>
        <p:txBody>
          <a:bodyPr/>
          <a:lstStyle>
            <a:lvl1pPr>
              <a:defRPr baseline="0">
                <a:solidFill>
                  <a:schemeClr val="accent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8" name="Content Placeholder 2"/>
          <p:cNvSpPr>
            <a:spLocks noGrp="1"/>
          </p:cNvSpPr>
          <p:nvPr>
            <p:ph idx="1"/>
          </p:nvPr>
        </p:nvSpPr>
        <p:spPr>
          <a:xfrm>
            <a:off x="380010" y="1097280"/>
            <a:ext cx="8383980" cy="4910129"/>
          </a:xfrm>
        </p:spPr>
        <p:txBody>
          <a:bodyPr/>
          <a:lstStyle>
            <a:lvl1pPr>
              <a:defRPr baseline="0">
                <a:latin typeface="Arial" panose="020B0604020202020204" pitchFamily="34" charset="0"/>
                <a:cs typeface="Arial" panose="020B0604020202020204" pitchFamily="34" charset="0"/>
              </a:defRPr>
            </a:lvl1pPr>
            <a:lvl2pPr>
              <a:defRPr baseline="0">
                <a:latin typeface="Arial" panose="020B0604020202020204" pitchFamily="34" charset="0"/>
                <a:cs typeface="Arial" panose="020B0604020202020204" pitchFamily="34" charset="0"/>
              </a:defRPr>
            </a:lvl2pPr>
            <a:lvl3pPr>
              <a:defRPr baseline="0">
                <a:latin typeface="Arial" panose="020B0604020202020204" pitchFamily="34" charset="0"/>
                <a:cs typeface="Arial" panose="020B0604020202020204" pitchFamily="34" charset="0"/>
              </a:defRPr>
            </a:lvl3pPr>
            <a:lvl4pPr>
              <a:defRPr baseline="0">
                <a:latin typeface="Arial" panose="020B0604020202020204" pitchFamily="34" charset="0"/>
                <a:cs typeface="Arial" panose="020B0604020202020204" pitchFamily="34" charset="0"/>
              </a:defRPr>
            </a:lvl4pPr>
            <a:lvl5pPr>
              <a:defRPr baseline="0">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30251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4" name="Rectangle 3"/>
          <p:cNvSpPr/>
          <p:nvPr userDrawn="1"/>
        </p:nvSpPr>
        <p:spPr>
          <a:xfrm flipV="1">
            <a:off x="0" y="1219200"/>
            <a:ext cx="9144000" cy="563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p:cNvSpPr/>
          <p:nvPr userDrawn="1"/>
        </p:nvSpPr>
        <p:spPr>
          <a:xfrm>
            <a:off x="0" y="0"/>
            <a:ext cx="9144000" cy="1219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lstStyle>
            <a:lvl1pP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grpSp>
        <p:nvGrpSpPr>
          <p:cNvPr id="3" name="Group 2"/>
          <p:cNvGrpSpPr/>
          <p:nvPr userDrawn="1"/>
        </p:nvGrpSpPr>
        <p:grpSpPr>
          <a:xfrm>
            <a:off x="7264458" y="365740"/>
            <a:ext cx="1553307" cy="487719"/>
            <a:chOff x="7264458" y="365740"/>
            <a:chExt cx="1553307" cy="487719"/>
          </a:xfrm>
        </p:grpSpPr>
        <p:sp>
          <p:nvSpPr>
            <p:cNvPr id="8" name="Freeform 6"/>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0"/>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1"/>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2"/>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3"/>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4"/>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5"/>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6"/>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7"/>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8"/>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9"/>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20"/>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21"/>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22"/>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23"/>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385316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F6728BC2-ACA3-447C-A909-F3F49211C066}" type="slidenum">
              <a:rPr lang="en-US" smtClean="0"/>
              <a:pPr/>
              <a:t>‹#›</a:t>
            </a:fld>
            <a:endParaRPr lang="en-US" dirty="0"/>
          </a:p>
        </p:txBody>
      </p:sp>
    </p:spTree>
    <p:extLst>
      <p:ext uri="{BB962C8B-B14F-4D97-AF65-F5344CB8AC3E}">
        <p14:creationId xmlns:p14="http://schemas.microsoft.com/office/powerpoint/2010/main" val="37251198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Only">
  <p:cSld name="4_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619014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Only" preserve="1" userDrawn="1">
  <p:cSld name="Section_Title">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 name="Title 1">
            <a:extLst>
              <a:ext uri="{FF2B5EF4-FFF2-40B4-BE49-F238E27FC236}">
                <a16:creationId xmlns:a16="http://schemas.microsoft.com/office/drawing/2014/main" id="{8A3E5519-BCE2-45F2-2CB8-0E6D0DAEE480}"/>
              </a:ext>
            </a:extLst>
          </p:cNvPr>
          <p:cNvSpPr>
            <a:spLocks noGrp="1"/>
          </p:cNvSpPr>
          <p:nvPr>
            <p:ph type="title"/>
          </p:nvPr>
        </p:nvSpPr>
        <p:spPr>
          <a:xfrm>
            <a:off x="1460664" y="2816925"/>
            <a:ext cx="6222671" cy="1224150"/>
          </a:xfrm>
        </p:spPr>
        <p:txBody>
          <a:bodyPr/>
          <a:lstStyle>
            <a:lvl1pPr algn="ctr">
              <a:defRPr baseline="0">
                <a:solidFill>
                  <a:schemeClr val="tx2"/>
                </a:solidFill>
                <a:latin typeface="Arial" panose="020B0604020202020204" pitchFamily="34" charset="0"/>
                <a:cs typeface="Arial" panose="020B0604020202020204" pitchFamily="34" charset="0"/>
              </a:defRPr>
            </a:lvl1pPr>
          </a:lstStyle>
          <a:p>
            <a:r>
              <a:rPr lang="en-US" dirty="0"/>
              <a:t>Click to edit Master title style</a:t>
            </a:r>
          </a:p>
        </p:txBody>
      </p:sp>
      <p:grpSp>
        <p:nvGrpSpPr>
          <p:cNvPr id="3" name="Group 2">
            <a:extLst>
              <a:ext uri="{FF2B5EF4-FFF2-40B4-BE49-F238E27FC236}">
                <a16:creationId xmlns:a16="http://schemas.microsoft.com/office/drawing/2014/main" id="{C619CA9B-AF8F-87A7-664B-F95C0134414C}"/>
              </a:ext>
            </a:extLst>
          </p:cNvPr>
          <p:cNvGrpSpPr/>
          <p:nvPr userDrawn="1"/>
        </p:nvGrpSpPr>
        <p:grpSpPr>
          <a:xfrm>
            <a:off x="6681759" y="0"/>
            <a:ext cx="2462241" cy="773113"/>
            <a:chOff x="7264458" y="365740"/>
            <a:chExt cx="1553307" cy="487719"/>
          </a:xfrm>
        </p:grpSpPr>
        <p:sp>
          <p:nvSpPr>
            <p:cNvPr id="4" name="Freeform 6">
              <a:extLst>
                <a:ext uri="{FF2B5EF4-FFF2-40B4-BE49-F238E27FC236}">
                  <a16:creationId xmlns:a16="http://schemas.microsoft.com/office/drawing/2014/main" id="{2A9D49A4-C029-2001-5A0F-3F2082CAD22E}"/>
                </a:ext>
              </a:extLst>
            </p:cNvPr>
            <p:cNvSpPr>
              <a:spLocks noEditPoints="1"/>
            </p:cNvSpPr>
            <p:nvPr userDrawn="1"/>
          </p:nvSpPr>
          <p:spPr bwMode="auto">
            <a:xfrm>
              <a:off x="7264458" y="705011"/>
              <a:ext cx="148988" cy="144669"/>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 name="Freeform 7">
              <a:extLst>
                <a:ext uri="{FF2B5EF4-FFF2-40B4-BE49-F238E27FC236}">
                  <a16:creationId xmlns:a16="http://schemas.microsoft.com/office/drawing/2014/main" id="{89A9B437-540E-333F-9B54-390C0EE61585}"/>
                </a:ext>
              </a:extLst>
            </p:cNvPr>
            <p:cNvSpPr>
              <a:spLocks/>
            </p:cNvSpPr>
            <p:nvPr userDrawn="1"/>
          </p:nvSpPr>
          <p:spPr bwMode="auto">
            <a:xfrm>
              <a:off x="7450153" y="705011"/>
              <a:ext cx="131714" cy="144669"/>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Freeform 8">
              <a:extLst>
                <a:ext uri="{FF2B5EF4-FFF2-40B4-BE49-F238E27FC236}">
                  <a16:creationId xmlns:a16="http://schemas.microsoft.com/office/drawing/2014/main" id="{645A3999-205C-7640-E332-1C3336AC3CE2}"/>
                </a:ext>
              </a:extLst>
            </p:cNvPr>
            <p:cNvSpPr>
              <a:spLocks/>
            </p:cNvSpPr>
            <p:nvPr userDrawn="1"/>
          </p:nvSpPr>
          <p:spPr bwMode="auto">
            <a:xfrm>
              <a:off x="7613446" y="705011"/>
              <a:ext cx="154116" cy="144669"/>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Freeform 9">
              <a:extLst>
                <a:ext uri="{FF2B5EF4-FFF2-40B4-BE49-F238E27FC236}">
                  <a16:creationId xmlns:a16="http://schemas.microsoft.com/office/drawing/2014/main" id="{B55F5EA6-ACB4-F73B-8708-83192579DBBB}"/>
                </a:ext>
              </a:extLst>
            </p:cNvPr>
            <p:cNvSpPr>
              <a:spLocks noEditPoints="1"/>
            </p:cNvSpPr>
            <p:nvPr userDrawn="1"/>
          </p:nvSpPr>
          <p:spPr bwMode="auto">
            <a:xfrm>
              <a:off x="7767562" y="705011"/>
              <a:ext cx="173010" cy="144669"/>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Freeform 10">
              <a:extLst>
                <a:ext uri="{FF2B5EF4-FFF2-40B4-BE49-F238E27FC236}">
                  <a16:creationId xmlns:a16="http://schemas.microsoft.com/office/drawing/2014/main" id="{F2B4DF57-055A-A5B3-F9EA-D5A8751833BE}"/>
                </a:ext>
              </a:extLst>
            </p:cNvPr>
            <p:cNvSpPr>
              <a:spLocks/>
            </p:cNvSpPr>
            <p:nvPr userDrawn="1"/>
          </p:nvSpPr>
          <p:spPr bwMode="auto">
            <a:xfrm>
              <a:off x="7934364" y="705011"/>
              <a:ext cx="157895" cy="144669"/>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Freeform 11">
              <a:extLst>
                <a:ext uri="{FF2B5EF4-FFF2-40B4-BE49-F238E27FC236}">
                  <a16:creationId xmlns:a16="http://schemas.microsoft.com/office/drawing/2014/main" id="{2D5EF9E0-0962-BE13-EA0D-E37FC7AD8645}"/>
                </a:ext>
              </a:extLst>
            </p:cNvPr>
            <p:cNvSpPr>
              <a:spLocks/>
            </p:cNvSpPr>
            <p:nvPr userDrawn="1"/>
          </p:nvSpPr>
          <p:spPr bwMode="auto">
            <a:xfrm>
              <a:off x="8122758" y="705011"/>
              <a:ext cx="154116" cy="148448"/>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 name="Freeform 12">
              <a:extLst>
                <a:ext uri="{FF2B5EF4-FFF2-40B4-BE49-F238E27FC236}">
                  <a16:creationId xmlns:a16="http://schemas.microsoft.com/office/drawing/2014/main" id="{EB24C6E3-9AC5-E695-8BED-7BE61A5CB631}"/>
                </a:ext>
              </a:extLst>
            </p:cNvPr>
            <p:cNvSpPr>
              <a:spLocks noEditPoints="1"/>
            </p:cNvSpPr>
            <p:nvPr userDrawn="1"/>
          </p:nvSpPr>
          <p:spPr bwMode="auto">
            <a:xfrm>
              <a:off x="8321678" y="705011"/>
              <a:ext cx="148448" cy="144669"/>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1" name="Freeform 13">
              <a:extLst>
                <a:ext uri="{FF2B5EF4-FFF2-40B4-BE49-F238E27FC236}">
                  <a16:creationId xmlns:a16="http://schemas.microsoft.com/office/drawing/2014/main" id="{47756FA6-C29B-BFEB-7653-543BD807F2D1}"/>
                </a:ext>
              </a:extLst>
            </p:cNvPr>
            <p:cNvSpPr>
              <a:spLocks/>
            </p:cNvSpPr>
            <p:nvPr userDrawn="1"/>
          </p:nvSpPr>
          <p:spPr bwMode="auto">
            <a:xfrm>
              <a:off x="8507374" y="705011"/>
              <a:ext cx="131714" cy="144669"/>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2" name="Freeform 14">
              <a:extLst>
                <a:ext uri="{FF2B5EF4-FFF2-40B4-BE49-F238E27FC236}">
                  <a16:creationId xmlns:a16="http://schemas.microsoft.com/office/drawing/2014/main" id="{38A89EE8-B866-AAED-26C2-BE18B4FBF047}"/>
                </a:ext>
              </a:extLst>
            </p:cNvPr>
            <p:cNvSpPr>
              <a:spLocks/>
            </p:cNvSpPr>
            <p:nvPr userDrawn="1"/>
          </p:nvSpPr>
          <p:spPr bwMode="auto">
            <a:xfrm>
              <a:off x="7785916" y="618911"/>
              <a:ext cx="25911" cy="24831"/>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15">
              <a:extLst>
                <a:ext uri="{FF2B5EF4-FFF2-40B4-BE49-F238E27FC236}">
                  <a16:creationId xmlns:a16="http://schemas.microsoft.com/office/drawing/2014/main" id="{5DB3E0E0-34C3-52AE-7CD3-F1AB984B2625}"/>
                </a:ext>
              </a:extLst>
            </p:cNvPr>
            <p:cNvSpPr>
              <a:spLocks/>
            </p:cNvSpPr>
            <p:nvPr userDrawn="1"/>
          </p:nvSpPr>
          <p:spPr bwMode="auto">
            <a:xfrm>
              <a:off x="7868507" y="539289"/>
              <a:ext cx="37247" cy="44804"/>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16">
              <a:extLst>
                <a:ext uri="{FF2B5EF4-FFF2-40B4-BE49-F238E27FC236}">
                  <a16:creationId xmlns:a16="http://schemas.microsoft.com/office/drawing/2014/main" id="{F6622341-E269-B3DE-12CB-68A866A7FB21}"/>
                </a:ext>
              </a:extLst>
            </p:cNvPr>
            <p:cNvSpPr>
              <a:spLocks/>
            </p:cNvSpPr>
            <p:nvPr userDrawn="1"/>
          </p:nvSpPr>
          <p:spPr bwMode="auto">
            <a:xfrm>
              <a:off x="7965403" y="477481"/>
              <a:ext cx="37787" cy="69366"/>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17">
              <a:extLst>
                <a:ext uri="{FF2B5EF4-FFF2-40B4-BE49-F238E27FC236}">
                  <a16:creationId xmlns:a16="http://schemas.microsoft.com/office/drawing/2014/main" id="{62B18E42-6F06-C998-AC7F-4559FE8283A9}"/>
                </a:ext>
              </a:extLst>
            </p:cNvPr>
            <p:cNvSpPr>
              <a:spLocks/>
            </p:cNvSpPr>
            <p:nvPr userDrawn="1"/>
          </p:nvSpPr>
          <p:spPr bwMode="auto">
            <a:xfrm>
              <a:off x="8070936" y="427548"/>
              <a:ext cx="32119" cy="95546"/>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8">
              <a:extLst>
                <a:ext uri="{FF2B5EF4-FFF2-40B4-BE49-F238E27FC236}">
                  <a16:creationId xmlns:a16="http://schemas.microsoft.com/office/drawing/2014/main" id="{9889642E-9A28-1238-56CF-BB1CC02E4B25}"/>
                </a:ext>
              </a:extLst>
            </p:cNvPr>
            <p:cNvSpPr>
              <a:spLocks/>
            </p:cNvSpPr>
            <p:nvPr userDrawn="1"/>
          </p:nvSpPr>
          <p:spPr bwMode="auto">
            <a:xfrm>
              <a:off x="8178358" y="392731"/>
              <a:ext cx="29690" cy="119568"/>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9">
              <a:extLst>
                <a:ext uri="{FF2B5EF4-FFF2-40B4-BE49-F238E27FC236}">
                  <a16:creationId xmlns:a16="http://schemas.microsoft.com/office/drawing/2014/main" id="{DB97D7BD-2CAD-CF0D-7625-C390C88021E8}"/>
                </a:ext>
              </a:extLst>
            </p:cNvPr>
            <p:cNvSpPr>
              <a:spLocks/>
            </p:cNvSpPr>
            <p:nvPr userDrawn="1"/>
          </p:nvSpPr>
          <p:spPr bwMode="auto">
            <a:xfrm>
              <a:off x="8280113" y="371948"/>
              <a:ext cx="46154" cy="14143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20">
              <a:extLst>
                <a:ext uri="{FF2B5EF4-FFF2-40B4-BE49-F238E27FC236}">
                  <a16:creationId xmlns:a16="http://schemas.microsoft.com/office/drawing/2014/main" id="{51BD1B0C-B2D3-C1B8-799E-D42AB3B0AA35}"/>
                </a:ext>
              </a:extLst>
            </p:cNvPr>
            <p:cNvSpPr>
              <a:spLocks/>
            </p:cNvSpPr>
            <p:nvPr userDrawn="1"/>
          </p:nvSpPr>
          <p:spPr bwMode="auto">
            <a:xfrm>
              <a:off x="8379438" y="365740"/>
              <a:ext cx="68826" cy="16167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21">
              <a:extLst>
                <a:ext uri="{FF2B5EF4-FFF2-40B4-BE49-F238E27FC236}">
                  <a16:creationId xmlns:a16="http://schemas.microsoft.com/office/drawing/2014/main" id="{403D9FBC-D098-4A6C-D21D-AD6C28E57C49}"/>
                </a:ext>
              </a:extLst>
            </p:cNvPr>
            <p:cNvSpPr>
              <a:spLocks/>
            </p:cNvSpPr>
            <p:nvPr userDrawn="1"/>
          </p:nvSpPr>
          <p:spPr bwMode="auto">
            <a:xfrm>
              <a:off x="8477144" y="377076"/>
              <a:ext cx="95007" cy="176788"/>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22">
              <a:extLst>
                <a:ext uri="{FF2B5EF4-FFF2-40B4-BE49-F238E27FC236}">
                  <a16:creationId xmlns:a16="http://schemas.microsoft.com/office/drawing/2014/main" id="{01D3E76D-1730-AFA4-D967-418E4B74EA68}"/>
                </a:ext>
              </a:extLst>
            </p:cNvPr>
            <p:cNvSpPr>
              <a:spLocks/>
            </p:cNvSpPr>
            <p:nvPr userDrawn="1"/>
          </p:nvSpPr>
          <p:spPr bwMode="auto">
            <a:xfrm>
              <a:off x="8573230" y="405416"/>
              <a:ext cx="122537" cy="187584"/>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23">
              <a:extLst>
                <a:ext uri="{FF2B5EF4-FFF2-40B4-BE49-F238E27FC236}">
                  <a16:creationId xmlns:a16="http://schemas.microsoft.com/office/drawing/2014/main" id="{912810A0-76DC-7E83-8BFC-C1A4F60F8D89}"/>
                </a:ext>
              </a:extLst>
            </p:cNvPr>
            <p:cNvSpPr>
              <a:spLocks/>
            </p:cNvSpPr>
            <p:nvPr userDrawn="1"/>
          </p:nvSpPr>
          <p:spPr bwMode="auto">
            <a:xfrm>
              <a:off x="8663109" y="450760"/>
              <a:ext cx="154656" cy="193522"/>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3258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219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p:cNvGrpSpPr/>
          <p:nvPr userDrawn="1"/>
        </p:nvGrpSpPr>
        <p:grpSpPr>
          <a:xfrm>
            <a:off x="7264458" y="365740"/>
            <a:ext cx="1553307" cy="487719"/>
            <a:chOff x="166688" y="-3240088"/>
            <a:chExt cx="9136063" cy="2868613"/>
          </a:xfrm>
        </p:grpSpPr>
        <p:sp>
          <p:nvSpPr>
            <p:cNvPr id="12" name="Freeform 6"/>
            <p:cNvSpPr>
              <a:spLocks noEditPoints="1"/>
            </p:cNvSpPr>
            <p:nvPr userDrawn="1"/>
          </p:nvSpPr>
          <p:spPr bwMode="auto">
            <a:xfrm>
              <a:off x="166688" y="-1244600"/>
              <a:ext cx="876300" cy="850900"/>
            </a:xfrm>
            <a:custGeom>
              <a:avLst/>
              <a:gdLst>
                <a:gd name="T0" fmla="*/ 98 w 552"/>
                <a:gd name="T1" fmla="*/ 79 h 536"/>
                <a:gd name="T2" fmla="*/ 98 w 552"/>
                <a:gd name="T3" fmla="*/ 241 h 536"/>
                <a:gd name="T4" fmla="*/ 307 w 552"/>
                <a:gd name="T5" fmla="*/ 241 h 536"/>
                <a:gd name="T6" fmla="*/ 342 w 552"/>
                <a:gd name="T7" fmla="*/ 241 h 536"/>
                <a:gd name="T8" fmla="*/ 374 w 552"/>
                <a:gd name="T9" fmla="*/ 238 h 536"/>
                <a:gd name="T10" fmla="*/ 398 w 552"/>
                <a:gd name="T11" fmla="*/ 231 h 536"/>
                <a:gd name="T12" fmla="*/ 417 w 552"/>
                <a:gd name="T13" fmla="*/ 222 h 536"/>
                <a:gd name="T14" fmla="*/ 431 w 552"/>
                <a:gd name="T15" fmla="*/ 206 h 536"/>
                <a:gd name="T16" fmla="*/ 440 w 552"/>
                <a:gd name="T17" fmla="*/ 187 h 536"/>
                <a:gd name="T18" fmla="*/ 443 w 552"/>
                <a:gd name="T19" fmla="*/ 161 h 536"/>
                <a:gd name="T20" fmla="*/ 440 w 552"/>
                <a:gd name="T21" fmla="*/ 135 h 536"/>
                <a:gd name="T22" fmla="*/ 431 w 552"/>
                <a:gd name="T23" fmla="*/ 114 h 536"/>
                <a:gd name="T24" fmla="*/ 417 w 552"/>
                <a:gd name="T25" fmla="*/ 100 h 536"/>
                <a:gd name="T26" fmla="*/ 398 w 552"/>
                <a:gd name="T27" fmla="*/ 89 h 536"/>
                <a:gd name="T28" fmla="*/ 374 w 552"/>
                <a:gd name="T29" fmla="*/ 84 h 536"/>
                <a:gd name="T30" fmla="*/ 342 w 552"/>
                <a:gd name="T31" fmla="*/ 80 h 536"/>
                <a:gd name="T32" fmla="*/ 307 w 552"/>
                <a:gd name="T33" fmla="*/ 79 h 536"/>
                <a:gd name="T34" fmla="*/ 98 w 552"/>
                <a:gd name="T35" fmla="*/ 79 h 536"/>
                <a:gd name="T36" fmla="*/ 0 w 552"/>
                <a:gd name="T37" fmla="*/ 0 h 536"/>
                <a:gd name="T38" fmla="*/ 323 w 552"/>
                <a:gd name="T39" fmla="*/ 0 h 536"/>
                <a:gd name="T40" fmla="*/ 377 w 552"/>
                <a:gd name="T41" fmla="*/ 2 h 536"/>
                <a:gd name="T42" fmla="*/ 422 w 552"/>
                <a:gd name="T43" fmla="*/ 9 h 536"/>
                <a:gd name="T44" fmla="*/ 461 w 552"/>
                <a:gd name="T45" fmla="*/ 19 h 536"/>
                <a:gd name="T46" fmla="*/ 490 w 552"/>
                <a:gd name="T47" fmla="*/ 37 h 536"/>
                <a:gd name="T48" fmla="*/ 513 w 552"/>
                <a:gd name="T49" fmla="*/ 58 h 536"/>
                <a:gd name="T50" fmla="*/ 529 w 552"/>
                <a:gd name="T51" fmla="*/ 86 h 536"/>
                <a:gd name="T52" fmla="*/ 538 w 552"/>
                <a:gd name="T53" fmla="*/ 119 h 536"/>
                <a:gd name="T54" fmla="*/ 541 w 552"/>
                <a:gd name="T55" fmla="*/ 157 h 536"/>
                <a:gd name="T56" fmla="*/ 538 w 552"/>
                <a:gd name="T57" fmla="*/ 194 h 536"/>
                <a:gd name="T58" fmla="*/ 529 w 552"/>
                <a:gd name="T59" fmla="*/ 225 h 536"/>
                <a:gd name="T60" fmla="*/ 513 w 552"/>
                <a:gd name="T61" fmla="*/ 252 h 536"/>
                <a:gd name="T62" fmla="*/ 494 w 552"/>
                <a:gd name="T63" fmla="*/ 272 h 536"/>
                <a:gd name="T64" fmla="*/ 473 w 552"/>
                <a:gd name="T65" fmla="*/ 290 h 536"/>
                <a:gd name="T66" fmla="*/ 447 w 552"/>
                <a:gd name="T67" fmla="*/ 302 h 536"/>
                <a:gd name="T68" fmla="*/ 421 w 552"/>
                <a:gd name="T69" fmla="*/ 311 h 536"/>
                <a:gd name="T70" fmla="*/ 393 w 552"/>
                <a:gd name="T71" fmla="*/ 314 h 536"/>
                <a:gd name="T72" fmla="*/ 384 w 552"/>
                <a:gd name="T73" fmla="*/ 314 h 536"/>
                <a:gd name="T74" fmla="*/ 552 w 552"/>
                <a:gd name="T75" fmla="*/ 536 h 536"/>
                <a:gd name="T76" fmla="*/ 431 w 552"/>
                <a:gd name="T77" fmla="*/ 536 h 536"/>
                <a:gd name="T78" fmla="*/ 274 w 552"/>
                <a:gd name="T79" fmla="*/ 323 h 536"/>
                <a:gd name="T80" fmla="*/ 274 w 552"/>
                <a:gd name="T81" fmla="*/ 321 h 536"/>
                <a:gd name="T82" fmla="*/ 98 w 552"/>
                <a:gd name="T83" fmla="*/ 321 h 536"/>
                <a:gd name="T84" fmla="*/ 98 w 552"/>
                <a:gd name="T85" fmla="*/ 536 h 536"/>
                <a:gd name="T86" fmla="*/ 0 w 552"/>
                <a:gd name="T87" fmla="*/ 536 h 536"/>
                <a:gd name="T88" fmla="*/ 0 w 552"/>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2" h="536">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reeform 7"/>
            <p:cNvSpPr>
              <a:spLocks/>
            </p:cNvSpPr>
            <p:nvPr userDrawn="1"/>
          </p:nvSpPr>
          <p:spPr bwMode="auto">
            <a:xfrm>
              <a:off x="1258888" y="-1244600"/>
              <a:ext cx="774700" cy="850900"/>
            </a:xfrm>
            <a:custGeom>
              <a:avLst/>
              <a:gdLst>
                <a:gd name="T0" fmla="*/ 0 w 488"/>
                <a:gd name="T1" fmla="*/ 0 h 536"/>
                <a:gd name="T2" fmla="*/ 440 w 488"/>
                <a:gd name="T3" fmla="*/ 0 h 536"/>
                <a:gd name="T4" fmla="*/ 455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5 w 488"/>
                <a:gd name="T17" fmla="*/ 79 h 536"/>
                <a:gd name="T18" fmla="*/ 440 w 488"/>
                <a:gd name="T19" fmla="*/ 82 h 536"/>
                <a:gd name="T20" fmla="*/ 97 w 488"/>
                <a:gd name="T21" fmla="*/ 82 h 536"/>
                <a:gd name="T22" fmla="*/ 97 w 488"/>
                <a:gd name="T23" fmla="*/ 218 h 536"/>
                <a:gd name="T24" fmla="*/ 354 w 488"/>
                <a:gd name="T25" fmla="*/ 218 h 536"/>
                <a:gd name="T26" fmla="*/ 370 w 488"/>
                <a:gd name="T27" fmla="*/ 222 h 536"/>
                <a:gd name="T28" fmla="*/ 384 w 488"/>
                <a:gd name="T29" fmla="*/ 231 h 536"/>
                <a:gd name="T30" fmla="*/ 392 w 488"/>
                <a:gd name="T31" fmla="*/ 243 h 536"/>
                <a:gd name="T32" fmla="*/ 396 w 488"/>
                <a:gd name="T33" fmla="*/ 259 h 536"/>
                <a:gd name="T34" fmla="*/ 392 w 488"/>
                <a:gd name="T35" fmla="*/ 276 h 536"/>
                <a:gd name="T36" fmla="*/ 384 w 488"/>
                <a:gd name="T37" fmla="*/ 288 h 536"/>
                <a:gd name="T38" fmla="*/ 370 w 488"/>
                <a:gd name="T39" fmla="*/ 297 h 536"/>
                <a:gd name="T40" fmla="*/ 354 w 488"/>
                <a:gd name="T41" fmla="*/ 300 h 536"/>
                <a:gd name="T42" fmla="*/ 97 w 488"/>
                <a:gd name="T43" fmla="*/ 300 h 536"/>
                <a:gd name="T44" fmla="*/ 97 w 488"/>
                <a:gd name="T45" fmla="*/ 454 h 536"/>
                <a:gd name="T46" fmla="*/ 448 w 488"/>
                <a:gd name="T47" fmla="*/ 454 h 536"/>
                <a:gd name="T48" fmla="*/ 464 w 488"/>
                <a:gd name="T49" fmla="*/ 457 h 536"/>
                <a:gd name="T50" fmla="*/ 478 w 488"/>
                <a:gd name="T51" fmla="*/ 466 h 536"/>
                <a:gd name="T52" fmla="*/ 487 w 488"/>
                <a:gd name="T53" fmla="*/ 478 h 536"/>
                <a:gd name="T54" fmla="*/ 488 w 488"/>
                <a:gd name="T55" fmla="*/ 494 h 536"/>
                <a:gd name="T56" fmla="*/ 487 w 488"/>
                <a:gd name="T57" fmla="*/ 512 h 536"/>
                <a:gd name="T58" fmla="*/ 478 w 488"/>
                <a:gd name="T59" fmla="*/ 524 h 536"/>
                <a:gd name="T60" fmla="*/ 464 w 488"/>
                <a:gd name="T61" fmla="*/ 533 h 536"/>
                <a:gd name="T62" fmla="*/ 448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8"/>
            <p:cNvSpPr>
              <a:spLocks/>
            </p:cNvSpPr>
            <p:nvPr userDrawn="1"/>
          </p:nvSpPr>
          <p:spPr bwMode="auto">
            <a:xfrm>
              <a:off x="2219326" y="-1244600"/>
              <a:ext cx="906463" cy="850900"/>
            </a:xfrm>
            <a:custGeom>
              <a:avLst/>
              <a:gdLst>
                <a:gd name="T0" fmla="*/ 48 w 571"/>
                <a:gd name="T1" fmla="*/ 0 h 536"/>
                <a:gd name="T2" fmla="*/ 65 w 571"/>
                <a:gd name="T3" fmla="*/ 4 h 536"/>
                <a:gd name="T4" fmla="*/ 79 w 571"/>
                <a:gd name="T5" fmla="*/ 12 h 536"/>
                <a:gd name="T6" fmla="*/ 89 w 571"/>
                <a:gd name="T7" fmla="*/ 26 h 536"/>
                <a:gd name="T8" fmla="*/ 280 w 571"/>
                <a:gd name="T9" fmla="*/ 431 h 536"/>
                <a:gd name="T10" fmla="*/ 285 w 571"/>
                <a:gd name="T11" fmla="*/ 440 h 536"/>
                <a:gd name="T12" fmla="*/ 484 w 571"/>
                <a:gd name="T13" fmla="*/ 26 h 536"/>
                <a:gd name="T14" fmla="*/ 494 w 571"/>
                <a:gd name="T15" fmla="*/ 12 h 536"/>
                <a:gd name="T16" fmla="*/ 508 w 571"/>
                <a:gd name="T17" fmla="*/ 2 h 536"/>
                <a:gd name="T18" fmla="*/ 526 w 571"/>
                <a:gd name="T19" fmla="*/ 0 h 536"/>
                <a:gd name="T20" fmla="*/ 541 w 571"/>
                <a:gd name="T21" fmla="*/ 2 h 536"/>
                <a:gd name="T22" fmla="*/ 554 w 571"/>
                <a:gd name="T23" fmla="*/ 9 h 536"/>
                <a:gd name="T24" fmla="*/ 564 w 571"/>
                <a:gd name="T25" fmla="*/ 21 h 536"/>
                <a:gd name="T26" fmla="*/ 571 w 571"/>
                <a:gd name="T27" fmla="*/ 35 h 536"/>
                <a:gd name="T28" fmla="*/ 571 w 571"/>
                <a:gd name="T29" fmla="*/ 51 h 536"/>
                <a:gd name="T30" fmla="*/ 568 w 571"/>
                <a:gd name="T31" fmla="*/ 67 h 536"/>
                <a:gd name="T32" fmla="*/ 337 w 571"/>
                <a:gd name="T33" fmla="*/ 536 h 536"/>
                <a:gd name="T34" fmla="*/ 233 w 571"/>
                <a:gd name="T35" fmla="*/ 536 h 536"/>
                <a:gd name="T36" fmla="*/ 6 w 571"/>
                <a:gd name="T37" fmla="*/ 67 h 536"/>
                <a:gd name="T38" fmla="*/ 0 w 571"/>
                <a:gd name="T39" fmla="*/ 51 h 536"/>
                <a:gd name="T40" fmla="*/ 2 w 571"/>
                <a:gd name="T41" fmla="*/ 35 h 536"/>
                <a:gd name="T42" fmla="*/ 7 w 571"/>
                <a:gd name="T43" fmla="*/ 21 h 536"/>
                <a:gd name="T44" fmla="*/ 18 w 571"/>
                <a:gd name="T45" fmla="*/ 9 h 536"/>
                <a:gd name="T46" fmla="*/ 32 w 571"/>
                <a:gd name="T47" fmla="*/ 2 h 536"/>
                <a:gd name="T48" fmla="*/ 48 w 571"/>
                <a:gd name="T4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1" h="536">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9"/>
            <p:cNvSpPr>
              <a:spLocks noEditPoints="1"/>
            </p:cNvSpPr>
            <p:nvPr userDrawn="1"/>
          </p:nvSpPr>
          <p:spPr bwMode="auto">
            <a:xfrm>
              <a:off x="3125788" y="-1244600"/>
              <a:ext cx="1017588" cy="850900"/>
            </a:xfrm>
            <a:custGeom>
              <a:avLst/>
              <a:gdLst>
                <a:gd name="T0" fmla="*/ 321 w 641"/>
                <a:gd name="T1" fmla="*/ 70 h 536"/>
                <a:gd name="T2" fmla="*/ 201 w 641"/>
                <a:gd name="T3" fmla="*/ 328 h 536"/>
                <a:gd name="T4" fmla="*/ 443 w 641"/>
                <a:gd name="T5" fmla="*/ 328 h 536"/>
                <a:gd name="T6" fmla="*/ 321 w 641"/>
                <a:gd name="T7" fmla="*/ 70 h 536"/>
                <a:gd name="T8" fmla="*/ 264 w 641"/>
                <a:gd name="T9" fmla="*/ 0 h 536"/>
                <a:gd name="T10" fmla="*/ 381 w 641"/>
                <a:gd name="T11" fmla="*/ 0 h 536"/>
                <a:gd name="T12" fmla="*/ 641 w 641"/>
                <a:gd name="T13" fmla="*/ 536 h 536"/>
                <a:gd name="T14" fmla="*/ 538 w 641"/>
                <a:gd name="T15" fmla="*/ 536 h 536"/>
                <a:gd name="T16" fmla="*/ 482 w 641"/>
                <a:gd name="T17" fmla="*/ 414 h 536"/>
                <a:gd name="T18" fmla="*/ 480 w 641"/>
                <a:gd name="T19" fmla="*/ 410 h 536"/>
                <a:gd name="T20" fmla="*/ 161 w 641"/>
                <a:gd name="T21" fmla="*/ 410 h 536"/>
                <a:gd name="T22" fmla="*/ 103 w 641"/>
                <a:gd name="T23" fmla="*/ 536 h 536"/>
                <a:gd name="T24" fmla="*/ 0 w 641"/>
                <a:gd name="T25" fmla="*/ 536 h 536"/>
                <a:gd name="T26" fmla="*/ 264 w 641"/>
                <a:gd name="T2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41" h="536">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10"/>
            <p:cNvSpPr>
              <a:spLocks/>
            </p:cNvSpPr>
            <p:nvPr userDrawn="1"/>
          </p:nvSpPr>
          <p:spPr bwMode="auto">
            <a:xfrm>
              <a:off x="4106863" y="-1244600"/>
              <a:ext cx="928688" cy="850900"/>
            </a:xfrm>
            <a:custGeom>
              <a:avLst/>
              <a:gdLst>
                <a:gd name="T0" fmla="*/ 42 w 585"/>
                <a:gd name="T1" fmla="*/ 0 h 536"/>
                <a:gd name="T2" fmla="*/ 545 w 585"/>
                <a:gd name="T3" fmla="*/ 0 h 536"/>
                <a:gd name="T4" fmla="*/ 560 w 585"/>
                <a:gd name="T5" fmla="*/ 2 h 536"/>
                <a:gd name="T6" fmla="*/ 574 w 585"/>
                <a:gd name="T7" fmla="*/ 12 h 536"/>
                <a:gd name="T8" fmla="*/ 583 w 585"/>
                <a:gd name="T9" fmla="*/ 25 h 536"/>
                <a:gd name="T10" fmla="*/ 585 w 585"/>
                <a:gd name="T11" fmla="*/ 40 h 536"/>
                <a:gd name="T12" fmla="*/ 583 w 585"/>
                <a:gd name="T13" fmla="*/ 56 h 536"/>
                <a:gd name="T14" fmla="*/ 574 w 585"/>
                <a:gd name="T15" fmla="*/ 70 h 536"/>
                <a:gd name="T16" fmla="*/ 560 w 585"/>
                <a:gd name="T17" fmla="*/ 79 h 536"/>
                <a:gd name="T18" fmla="*/ 545 w 585"/>
                <a:gd name="T19" fmla="*/ 82 h 536"/>
                <a:gd name="T20" fmla="*/ 342 w 585"/>
                <a:gd name="T21" fmla="*/ 82 h 536"/>
                <a:gd name="T22" fmla="*/ 342 w 585"/>
                <a:gd name="T23" fmla="*/ 536 h 536"/>
                <a:gd name="T24" fmla="*/ 244 w 585"/>
                <a:gd name="T25" fmla="*/ 536 h 536"/>
                <a:gd name="T26" fmla="*/ 244 w 585"/>
                <a:gd name="T27" fmla="*/ 82 h 536"/>
                <a:gd name="T28" fmla="*/ 42 w 585"/>
                <a:gd name="T29" fmla="*/ 82 h 536"/>
                <a:gd name="T30" fmla="*/ 26 w 585"/>
                <a:gd name="T31" fmla="*/ 79 h 536"/>
                <a:gd name="T32" fmla="*/ 12 w 585"/>
                <a:gd name="T33" fmla="*/ 70 h 536"/>
                <a:gd name="T34" fmla="*/ 4 w 585"/>
                <a:gd name="T35" fmla="*/ 56 h 536"/>
                <a:gd name="T36" fmla="*/ 0 w 585"/>
                <a:gd name="T37" fmla="*/ 40 h 536"/>
                <a:gd name="T38" fmla="*/ 4 w 585"/>
                <a:gd name="T39" fmla="*/ 25 h 536"/>
                <a:gd name="T40" fmla="*/ 12 w 585"/>
                <a:gd name="T41" fmla="*/ 12 h 536"/>
                <a:gd name="T42" fmla="*/ 26 w 585"/>
                <a:gd name="T43" fmla="*/ 2 h 536"/>
                <a:gd name="T44" fmla="*/ 42 w 585"/>
                <a:gd name="T45"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5" h="536">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1"/>
            <p:cNvSpPr>
              <a:spLocks/>
            </p:cNvSpPr>
            <p:nvPr userDrawn="1"/>
          </p:nvSpPr>
          <p:spPr bwMode="auto">
            <a:xfrm>
              <a:off x="5214938" y="-1244600"/>
              <a:ext cx="906463" cy="873125"/>
            </a:xfrm>
            <a:custGeom>
              <a:avLst/>
              <a:gdLst>
                <a:gd name="T0" fmla="*/ 49 w 571"/>
                <a:gd name="T1" fmla="*/ 0 h 550"/>
                <a:gd name="T2" fmla="*/ 68 w 571"/>
                <a:gd name="T3" fmla="*/ 4 h 550"/>
                <a:gd name="T4" fmla="*/ 84 w 571"/>
                <a:gd name="T5" fmla="*/ 14 h 550"/>
                <a:gd name="T6" fmla="*/ 94 w 571"/>
                <a:gd name="T7" fmla="*/ 30 h 550"/>
                <a:gd name="T8" fmla="*/ 98 w 571"/>
                <a:gd name="T9" fmla="*/ 49 h 550"/>
                <a:gd name="T10" fmla="*/ 98 w 571"/>
                <a:gd name="T11" fmla="*/ 299 h 550"/>
                <a:gd name="T12" fmla="*/ 98 w 571"/>
                <a:gd name="T13" fmla="*/ 320 h 550"/>
                <a:gd name="T14" fmla="*/ 101 w 571"/>
                <a:gd name="T15" fmla="*/ 342 h 550"/>
                <a:gd name="T16" fmla="*/ 105 w 571"/>
                <a:gd name="T17" fmla="*/ 363 h 550"/>
                <a:gd name="T18" fmla="*/ 112 w 571"/>
                <a:gd name="T19" fmla="*/ 384 h 550"/>
                <a:gd name="T20" fmla="*/ 122 w 571"/>
                <a:gd name="T21" fmla="*/ 403 h 550"/>
                <a:gd name="T22" fmla="*/ 136 w 571"/>
                <a:gd name="T23" fmla="*/ 421 h 550"/>
                <a:gd name="T24" fmla="*/ 156 w 571"/>
                <a:gd name="T25" fmla="*/ 437 h 550"/>
                <a:gd name="T26" fmla="*/ 180 w 571"/>
                <a:gd name="T27" fmla="*/ 449 h 550"/>
                <a:gd name="T28" fmla="*/ 208 w 571"/>
                <a:gd name="T29" fmla="*/ 459 h 550"/>
                <a:gd name="T30" fmla="*/ 245 w 571"/>
                <a:gd name="T31" fmla="*/ 464 h 550"/>
                <a:gd name="T32" fmla="*/ 286 w 571"/>
                <a:gd name="T33" fmla="*/ 466 h 550"/>
                <a:gd name="T34" fmla="*/ 328 w 571"/>
                <a:gd name="T35" fmla="*/ 464 h 550"/>
                <a:gd name="T36" fmla="*/ 363 w 571"/>
                <a:gd name="T37" fmla="*/ 459 h 550"/>
                <a:gd name="T38" fmla="*/ 391 w 571"/>
                <a:gd name="T39" fmla="*/ 449 h 550"/>
                <a:gd name="T40" fmla="*/ 416 w 571"/>
                <a:gd name="T41" fmla="*/ 437 h 550"/>
                <a:gd name="T42" fmla="*/ 435 w 571"/>
                <a:gd name="T43" fmla="*/ 421 h 550"/>
                <a:gd name="T44" fmla="*/ 449 w 571"/>
                <a:gd name="T45" fmla="*/ 403 h 550"/>
                <a:gd name="T46" fmla="*/ 459 w 571"/>
                <a:gd name="T47" fmla="*/ 384 h 550"/>
                <a:gd name="T48" fmla="*/ 466 w 571"/>
                <a:gd name="T49" fmla="*/ 363 h 550"/>
                <a:gd name="T50" fmla="*/ 470 w 571"/>
                <a:gd name="T51" fmla="*/ 342 h 550"/>
                <a:gd name="T52" fmla="*/ 473 w 571"/>
                <a:gd name="T53" fmla="*/ 320 h 550"/>
                <a:gd name="T54" fmla="*/ 473 w 571"/>
                <a:gd name="T55" fmla="*/ 299 h 550"/>
                <a:gd name="T56" fmla="*/ 473 w 571"/>
                <a:gd name="T57" fmla="*/ 49 h 550"/>
                <a:gd name="T58" fmla="*/ 477 w 571"/>
                <a:gd name="T59" fmla="*/ 30 h 550"/>
                <a:gd name="T60" fmla="*/ 487 w 571"/>
                <a:gd name="T61" fmla="*/ 14 h 550"/>
                <a:gd name="T62" fmla="*/ 503 w 571"/>
                <a:gd name="T63" fmla="*/ 4 h 550"/>
                <a:gd name="T64" fmla="*/ 522 w 571"/>
                <a:gd name="T65" fmla="*/ 0 h 550"/>
                <a:gd name="T66" fmla="*/ 541 w 571"/>
                <a:gd name="T67" fmla="*/ 4 h 550"/>
                <a:gd name="T68" fmla="*/ 557 w 571"/>
                <a:gd name="T69" fmla="*/ 14 h 550"/>
                <a:gd name="T70" fmla="*/ 567 w 571"/>
                <a:gd name="T71" fmla="*/ 30 h 550"/>
                <a:gd name="T72" fmla="*/ 571 w 571"/>
                <a:gd name="T73" fmla="*/ 49 h 550"/>
                <a:gd name="T74" fmla="*/ 571 w 571"/>
                <a:gd name="T75" fmla="*/ 306 h 550"/>
                <a:gd name="T76" fmla="*/ 567 w 571"/>
                <a:gd name="T77" fmla="*/ 358 h 550"/>
                <a:gd name="T78" fmla="*/ 557 w 571"/>
                <a:gd name="T79" fmla="*/ 402 h 550"/>
                <a:gd name="T80" fmla="*/ 540 w 571"/>
                <a:gd name="T81" fmla="*/ 442 h 550"/>
                <a:gd name="T82" fmla="*/ 513 w 571"/>
                <a:gd name="T83" fmla="*/ 475 h 550"/>
                <a:gd name="T84" fmla="*/ 482 w 571"/>
                <a:gd name="T85" fmla="*/ 501 h 550"/>
                <a:gd name="T86" fmla="*/ 444 w 571"/>
                <a:gd name="T87" fmla="*/ 522 h 550"/>
                <a:gd name="T88" fmla="*/ 398 w 571"/>
                <a:gd name="T89" fmla="*/ 538 h 550"/>
                <a:gd name="T90" fmla="*/ 346 w 571"/>
                <a:gd name="T91" fmla="*/ 547 h 550"/>
                <a:gd name="T92" fmla="*/ 286 w 571"/>
                <a:gd name="T93" fmla="*/ 550 h 550"/>
                <a:gd name="T94" fmla="*/ 225 w 571"/>
                <a:gd name="T95" fmla="*/ 547 h 550"/>
                <a:gd name="T96" fmla="*/ 173 w 571"/>
                <a:gd name="T97" fmla="*/ 538 h 550"/>
                <a:gd name="T98" fmla="*/ 128 w 571"/>
                <a:gd name="T99" fmla="*/ 522 h 550"/>
                <a:gd name="T100" fmla="*/ 89 w 571"/>
                <a:gd name="T101" fmla="*/ 501 h 550"/>
                <a:gd name="T102" fmla="*/ 58 w 571"/>
                <a:gd name="T103" fmla="*/ 475 h 550"/>
                <a:gd name="T104" fmla="*/ 32 w 571"/>
                <a:gd name="T105" fmla="*/ 442 h 550"/>
                <a:gd name="T106" fmla="*/ 14 w 571"/>
                <a:gd name="T107" fmla="*/ 402 h 550"/>
                <a:gd name="T108" fmla="*/ 4 w 571"/>
                <a:gd name="T109" fmla="*/ 358 h 550"/>
                <a:gd name="T110" fmla="*/ 0 w 571"/>
                <a:gd name="T111" fmla="*/ 306 h 550"/>
                <a:gd name="T112" fmla="*/ 0 w 571"/>
                <a:gd name="T113" fmla="*/ 49 h 550"/>
                <a:gd name="T114" fmla="*/ 4 w 571"/>
                <a:gd name="T115" fmla="*/ 30 h 550"/>
                <a:gd name="T116" fmla="*/ 14 w 571"/>
                <a:gd name="T117" fmla="*/ 14 h 550"/>
                <a:gd name="T118" fmla="*/ 30 w 571"/>
                <a:gd name="T119" fmla="*/ 4 h 550"/>
                <a:gd name="T120" fmla="*/ 49 w 571"/>
                <a:gd name="T121" fmla="*/ 0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571" h="55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2"/>
            <p:cNvSpPr>
              <a:spLocks noEditPoints="1"/>
            </p:cNvSpPr>
            <p:nvPr userDrawn="1"/>
          </p:nvSpPr>
          <p:spPr bwMode="auto">
            <a:xfrm>
              <a:off x="6384926" y="-1244600"/>
              <a:ext cx="873125" cy="850900"/>
            </a:xfrm>
            <a:custGeom>
              <a:avLst/>
              <a:gdLst>
                <a:gd name="T0" fmla="*/ 96 w 550"/>
                <a:gd name="T1" fmla="*/ 79 h 536"/>
                <a:gd name="T2" fmla="*/ 96 w 550"/>
                <a:gd name="T3" fmla="*/ 241 h 536"/>
                <a:gd name="T4" fmla="*/ 307 w 550"/>
                <a:gd name="T5" fmla="*/ 241 h 536"/>
                <a:gd name="T6" fmla="*/ 342 w 550"/>
                <a:gd name="T7" fmla="*/ 241 h 536"/>
                <a:gd name="T8" fmla="*/ 372 w 550"/>
                <a:gd name="T9" fmla="*/ 238 h 536"/>
                <a:gd name="T10" fmla="*/ 398 w 550"/>
                <a:gd name="T11" fmla="*/ 231 h 536"/>
                <a:gd name="T12" fmla="*/ 417 w 550"/>
                <a:gd name="T13" fmla="*/ 222 h 536"/>
                <a:gd name="T14" fmla="*/ 431 w 550"/>
                <a:gd name="T15" fmla="*/ 206 h 536"/>
                <a:gd name="T16" fmla="*/ 440 w 550"/>
                <a:gd name="T17" fmla="*/ 187 h 536"/>
                <a:gd name="T18" fmla="*/ 443 w 550"/>
                <a:gd name="T19" fmla="*/ 161 h 536"/>
                <a:gd name="T20" fmla="*/ 440 w 550"/>
                <a:gd name="T21" fmla="*/ 135 h 536"/>
                <a:gd name="T22" fmla="*/ 431 w 550"/>
                <a:gd name="T23" fmla="*/ 114 h 536"/>
                <a:gd name="T24" fmla="*/ 417 w 550"/>
                <a:gd name="T25" fmla="*/ 100 h 536"/>
                <a:gd name="T26" fmla="*/ 398 w 550"/>
                <a:gd name="T27" fmla="*/ 89 h 536"/>
                <a:gd name="T28" fmla="*/ 372 w 550"/>
                <a:gd name="T29" fmla="*/ 84 h 536"/>
                <a:gd name="T30" fmla="*/ 342 w 550"/>
                <a:gd name="T31" fmla="*/ 80 h 536"/>
                <a:gd name="T32" fmla="*/ 307 w 550"/>
                <a:gd name="T33" fmla="*/ 79 h 536"/>
                <a:gd name="T34" fmla="*/ 96 w 550"/>
                <a:gd name="T35" fmla="*/ 79 h 536"/>
                <a:gd name="T36" fmla="*/ 0 w 550"/>
                <a:gd name="T37" fmla="*/ 0 h 536"/>
                <a:gd name="T38" fmla="*/ 323 w 550"/>
                <a:gd name="T39" fmla="*/ 0 h 536"/>
                <a:gd name="T40" fmla="*/ 377 w 550"/>
                <a:gd name="T41" fmla="*/ 2 h 536"/>
                <a:gd name="T42" fmla="*/ 422 w 550"/>
                <a:gd name="T43" fmla="*/ 9 h 536"/>
                <a:gd name="T44" fmla="*/ 459 w 550"/>
                <a:gd name="T45" fmla="*/ 19 h 536"/>
                <a:gd name="T46" fmla="*/ 489 w 550"/>
                <a:gd name="T47" fmla="*/ 37 h 536"/>
                <a:gd name="T48" fmla="*/ 511 w 550"/>
                <a:gd name="T49" fmla="*/ 58 h 536"/>
                <a:gd name="T50" fmla="*/ 527 w 550"/>
                <a:gd name="T51" fmla="*/ 86 h 536"/>
                <a:gd name="T52" fmla="*/ 537 w 550"/>
                <a:gd name="T53" fmla="*/ 119 h 536"/>
                <a:gd name="T54" fmla="*/ 539 w 550"/>
                <a:gd name="T55" fmla="*/ 157 h 536"/>
                <a:gd name="T56" fmla="*/ 537 w 550"/>
                <a:gd name="T57" fmla="*/ 194 h 536"/>
                <a:gd name="T58" fmla="*/ 527 w 550"/>
                <a:gd name="T59" fmla="*/ 225 h 536"/>
                <a:gd name="T60" fmla="*/ 513 w 550"/>
                <a:gd name="T61" fmla="*/ 252 h 536"/>
                <a:gd name="T62" fmla="*/ 494 w 550"/>
                <a:gd name="T63" fmla="*/ 272 h 536"/>
                <a:gd name="T64" fmla="*/ 471 w 550"/>
                <a:gd name="T65" fmla="*/ 290 h 536"/>
                <a:gd name="T66" fmla="*/ 447 w 550"/>
                <a:gd name="T67" fmla="*/ 302 h 536"/>
                <a:gd name="T68" fmla="*/ 419 w 550"/>
                <a:gd name="T69" fmla="*/ 311 h 536"/>
                <a:gd name="T70" fmla="*/ 393 w 550"/>
                <a:gd name="T71" fmla="*/ 314 h 536"/>
                <a:gd name="T72" fmla="*/ 384 w 550"/>
                <a:gd name="T73" fmla="*/ 314 h 536"/>
                <a:gd name="T74" fmla="*/ 550 w 550"/>
                <a:gd name="T75" fmla="*/ 536 h 536"/>
                <a:gd name="T76" fmla="*/ 431 w 550"/>
                <a:gd name="T77" fmla="*/ 536 h 536"/>
                <a:gd name="T78" fmla="*/ 274 w 550"/>
                <a:gd name="T79" fmla="*/ 323 h 536"/>
                <a:gd name="T80" fmla="*/ 272 w 550"/>
                <a:gd name="T81" fmla="*/ 321 h 536"/>
                <a:gd name="T82" fmla="*/ 96 w 550"/>
                <a:gd name="T83" fmla="*/ 321 h 536"/>
                <a:gd name="T84" fmla="*/ 96 w 550"/>
                <a:gd name="T85" fmla="*/ 536 h 536"/>
                <a:gd name="T86" fmla="*/ 0 w 550"/>
                <a:gd name="T87" fmla="*/ 536 h 536"/>
                <a:gd name="T88" fmla="*/ 0 w 550"/>
                <a:gd name="T89"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50" h="536">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3"/>
            <p:cNvSpPr>
              <a:spLocks/>
            </p:cNvSpPr>
            <p:nvPr userDrawn="1"/>
          </p:nvSpPr>
          <p:spPr bwMode="auto">
            <a:xfrm>
              <a:off x="7477126" y="-1244600"/>
              <a:ext cx="774700" cy="850900"/>
            </a:xfrm>
            <a:custGeom>
              <a:avLst/>
              <a:gdLst>
                <a:gd name="T0" fmla="*/ 0 w 488"/>
                <a:gd name="T1" fmla="*/ 0 h 536"/>
                <a:gd name="T2" fmla="*/ 438 w 488"/>
                <a:gd name="T3" fmla="*/ 0 h 536"/>
                <a:gd name="T4" fmla="*/ 453 w 488"/>
                <a:gd name="T5" fmla="*/ 2 h 536"/>
                <a:gd name="T6" fmla="*/ 467 w 488"/>
                <a:gd name="T7" fmla="*/ 12 h 536"/>
                <a:gd name="T8" fmla="*/ 476 w 488"/>
                <a:gd name="T9" fmla="*/ 25 h 536"/>
                <a:gd name="T10" fmla="*/ 480 w 488"/>
                <a:gd name="T11" fmla="*/ 40 h 536"/>
                <a:gd name="T12" fmla="*/ 476 w 488"/>
                <a:gd name="T13" fmla="*/ 56 h 536"/>
                <a:gd name="T14" fmla="*/ 467 w 488"/>
                <a:gd name="T15" fmla="*/ 70 h 536"/>
                <a:gd name="T16" fmla="*/ 453 w 488"/>
                <a:gd name="T17" fmla="*/ 79 h 536"/>
                <a:gd name="T18" fmla="*/ 438 w 488"/>
                <a:gd name="T19" fmla="*/ 82 h 536"/>
                <a:gd name="T20" fmla="*/ 97 w 488"/>
                <a:gd name="T21" fmla="*/ 82 h 536"/>
                <a:gd name="T22" fmla="*/ 97 w 488"/>
                <a:gd name="T23" fmla="*/ 218 h 536"/>
                <a:gd name="T24" fmla="*/ 333 w 488"/>
                <a:gd name="T25" fmla="*/ 218 h 536"/>
                <a:gd name="T26" fmla="*/ 349 w 488"/>
                <a:gd name="T27" fmla="*/ 222 h 536"/>
                <a:gd name="T28" fmla="*/ 361 w 488"/>
                <a:gd name="T29" fmla="*/ 231 h 536"/>
                <a:gd name="T30" fmla="*/ 370 w 488"/>
                <a:gd name="T31" fmla="*/ 243 h 536"/>
                <a:gd name="T32" fmla="*/ 373 w 488"/>
                <a:gd name="T33" fmla="*/ 259 h 536"/>
                <a:gd name="T34" fmla="*/ 370 w 488"/>
                <a:gd name="T35" fmla="*/ 276 h 536"/>
                <a:gd name="T36" fmla="*/ 361 w 488"/>
                <a:gd name="T37" fmla="*/ 288 h 536"/>
                <a:gd name="T38" fmla="*/ 349 w 488"/>
                <a:gd name="T39" fmla="*/ 297 h 536"/>
                <a:gd name="T40" fmla="*/ 333 w 488"/>
                <a:gd name="T41" fmla="*/ 300 h 536"/>
                <a:gd name="T42" fmla="*/ 97 w 488"/>
                <a:gd name="T43" fmla="*/ 300 h 536"/>
                <a:gd name="T44" fmla="*/ 97 w 488"/>
                <a:gd name="T45" fmla="*/ 454 h 536"/>
                <a:gd name="T46" fmla="*/ 446 w 488"/>
                <a:gd name="T47" fmla="*/ 454 h 536"/>
                <a:gd name="T48" fmla="*/ 464 w 488"/>
                <a:gd name="T49" fmla="*/ 457 h 536"/>
                <a:gd name="T50" fmla="*/ 476 w 488"/>
                <a:gd name="T51" fmla="*/ 466 h 536"/>
                <a:gd name="T52" fmla="*/ 485 w 488"/>
                <a:gd name="T53" fmla="*/ 478 h 536"/>
                <a:gd name="T54" fmla="*/ 488 w 488"/>
                <a:gd name="T55" fmla="*/ 494 h 536"/>
                <a:gd name="T56" fmla="*/ 485 w 488"/>
                <a:gd name="T57" fmla="*/ 512 h 536"/>
                <a:gd name="T58" fmla="*/ 476 w 488"/>
                <a:gd name="T59" fmla="*/ 524 h 536"/>
                <a:gd name="T60" fmla="*/ 464 w 488"/>
                <a:gd name="T61" fmla="*/ 533 h 536"/>
                <a:gd name="T62" fmla="*/ 446 w 488"/>
                <a:gd name="T63" fmla="*/ 536 h 536"/>
                <a:gd name="T64" fmla="*/ 0 w 488"/>
                <a:gd name="T65" fmla="*/ 536 h 536"/>
                <a:gd name="T66" fmla="*/ 0 w 488"/>
                <a:gd name="T67"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88" h="536">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4"/>
            <p:cNvSpPr>
              <a:spLocks/>
            </p:cNvSpPr>
            <p:nvPr userDrawn="1"/>
          </p:nvSpPr>
          <p:spPr bwMode="auto">
            <a:xfrm>
              <a:off x="3233738" y="-1751013"/>
              <a:ext cx="152400" cy="146050"/>
            </a:xfrm>
            <a:custGeom>
              <a:avLst/>
              <a:gdLst>
                <a:gd name="T0" fmla="*/ 51 w 96"/>
                <a:gd name="T1" fmla="*/ 0 h 92"/>
                <a:gd name="T2" fmla="*/ 53 w 96"/>
                <a:gd name="T3" fmla="*/ 0 h 92"/>
                <a:gd name="T4" fmla="*/ 70 w 96"/>
                <a:gd name="T5" fmla="*/ 5 h 92"/>
                <a:gd name="T6" fmla="*/ 84 w 96"/>
                <a:gd name="T7" fmla="*/ 15 h 92"/>
                <a:gd name="T8" fmla="*/ 93 w 96"/>
                <a:gd name="T9" fmla="*/ 31 h 92"/>
                <a:gd name="T10" fmla="*/ 96 w 96"/>
                <a:gd name="T11" fmla="*/ 49 h 92"/>
                <a:gd name="T12" fmla="*/ 91 w 96"/>
                <a:gd name="T13" fmla="*/ 66 h 92"/>
                <a:gd name="T14" fmla="*/ 81 w 96"/>
                <a:gd name="T15" fmla="*/ 80 h 92"/>
                <a:gd name="T16" fmla="*/ 65 w 96"/>
                <a:gd name="T17" fmla="*/ 91 h 92"/>
                <a:gd name="T18" fmla="*/ 47 w 96"/>
                <a:gd name="T19" fmla="*/ 92 h 92"/>
                <a:gd name="T20" fmla="*/ 44 w 96"/>
                <a:gd name="T21" fmla="*/ 92 h 92"/>
                <a:gd name="T22" fmla="*/ 26 w 96"/>
                <a:gd name="T23" fmla="*/ 87 h 92"/>
                <a:gd name="T24" fmla="*/ 12 w 96"/>
                <a:gd name="T25" fmla="*/ 77 h 92"/>
                <a:gd name="T26" fmla="*/ 4 w 96"/>
                <a:gd name="T27" fmla="*/ 61 h 92"/>
                <a:gd name="T28" fmla="*/ 0 w 96"/>
                <a:gd name="T29" fmla="*/ 43 h 92"/>
                <a:gd name="T30" fmla="*/ 5 w 96"/>
                <a:gd name="T31" fmla="*/ 26 h 92"/>
                <a:gd name="T32" fmla="*/ 16 w 96"/>
                <a:gd name="T33" fmla="*/ 12 h 92"/>
                <a:gd name="T34" fmla="*/ 32 w 96"/>
                <a:gd name="T35" fmla="*/ 2 h 92"/>
                <a:gd name="T36" fmla="*/ 51 w 96"/>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6" h="92">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5"/>
            <p:cNvSpPr>
              <a:spLocks/>
            </p:cNvSpPr>
            <p:nvPr userDrawn="1"/>
          </p:nvSpPr>
          <p:spPr bwMode="auto">
            <a:xfrm>
              <a:off x="3719513" y="-2219325"/>
              <a:ext cx="219075" cy="263525"/>
            </a:xfrm>
            <a:custGeom>
              <a:avLst/>
              <a:gdLst>
                <a:gd name="T0" fmla="*/ 40 w 138"/>
                <a:gd name="T1" fmla="*/ 0 h 166"/>
                <a:gd name="T2" fmla="*/ 57 w 138"/>
                <a:gd name="T3" fmla="*/ 2 h 166"/>
                <a:gd name="T4" fmla="*/ 73 w 138"/>
                <a:gd name="T5" fmla="*/ 9 h 166"/>
                <a:gd name="T6" fmla="*/ 85 w 138"/>
                <a:gd name="T7" fmla="*/ 22 h 166"/>
                <a:gd name="T8" fmla="*/ 132 w 138"/>
                <a:gd name="T9" fmla="*/ 96 h 166"/>
                <a:gd name="T10" fmla="*/ 138 w 138"/>
                <a:gd name="T11" fmla="*/ 113 h 166"/>
                <a:gd name="T12" fmla="*/ 138 w 138"/>
                <a:gd name="T13" fmla="*/ 131 h 166"/>
                <a:gd name="T14" fmla="*/ 129 w 138"/>
                <a:gd name="T15" fmla="*/ 146 h 166"/>
                <a:gd name="T16" fmla="*/ 115 w 138"/>
                <a:gd name="T17" fmla="*/ 159 h 166"/>
                <a:gd name="T18" fmla="*/ 99 w 138"/>
                <a:gd name="T19" fmla="*/ 166 h 166"/>
                <a:gd name="T20" fmla="*/ 80 w 138"/>
                <a:gd name="T21" fmla="*/ 164 h 166"/>
                <a:gd name="T22" fmla="*/ 64 w 138"/>
                <a:gd name="T23" fmla="*/ 157 h 166"/>
                <a:gd name="T24" fmla="*/ 52 w 138"/>
                <a:gd name="T25" fmla="*/ 143 h 166"/>
                <a:gd name="T26" fmla="*/ 5 w 138"/>
                <a:gd name="T27" fmla="*/ 70 h 166"/>
                <a:gd name="T28" fmla="*/ 0 w 138"/>
                <a:gd name="T29" fmla="*/ 52 h 166"/>
                <a:gd name="T30" fmla="*/ 0 w 138"/>
                <a:gd name="T31" fmla="*/ 35 h 166"/>
                <a:gd name="T32" fmla="*/ 8 w 138"/>
                <a:gd name="T33" fmla="*/ 17 h 166"/>
                <a:gd name="T34" fmla="*/ 22 w 138"/>
                <a:gd name="T35" fmla="*/ 7 h 166"/>
                <a:gd name="T36" fmla="*/ 40 w 138"/>
                <a:gd name="T37"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8" h="166">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6"/>
            <p:cNvSpPr>
              <a:spLocks/>
            </p:cNvSpPr>
            <p:nvPr userDrawn="1"/>
          </p:nvSpPr>
          <p:spPr bwMode="auto">
            <a:xfrm>
              <a:off x="4289426" y="-2582863"/>
              <a:ext cx="222250" cy="407988"/>
            </a:xfrm>
            <a:custGeom>
              <a:avLst/>
              <a:gdLst>
                <a:gd name="T0" fmla="*/ 53 w 140"/>
                <a:gd name="T1" fmla="*/ 0 h 257"/>
                <a:gd name="T2" fmla="*/ 68 w 140"/>
                <a:gd name="T3" fmla="*/ 7 h 257"/>
                <a:gd name="T4" fmla="*/ 82 w 140"/>
                <a:gd name="T5" fmla="*/ 19 h 257"/>
                <a:gd name="T6" fmla="*/ 89 w 140"/>
                <a:gd name="T7" fmla="*/ 35 h 257"/>
                <a:gd name="T8" fmla="*/ 140 w 140"/>
                <a:gd name="T9" fmla="*/ 199 h 257"/>
                <a:gd name="T10" fmla="*/ 140 w 140"/>
                <a:gd name="T11" fmla="*/ 218 h 257"/>
                <a:gd name="T12" fmla="*/ 135 w 140"/>
                <a:gd name="T13" fmla="*/ 234 h 257"/>
                <a:gd name="T14" fmla="*/ 122 w 140"/>
                <a:gd name="T15" fmla="*/ 248 h 257"/>
                <a:gd name="T16" fmla="*/ 105 w 140"/>
                <a:gd name="T17" fmla="*/ 255 h 257"/>
                <a:gd name="T18" fmla="*/ 88 w 140"/>
                <a:gd name="T19" fmla="*/ 257 h 257"/>
                <a:gd name="T20" fmla="*/ 70 w 140"/>
                <a:gd name="T21" fmla="*/ 250 h 257"/>
                <a:gd name="T22" fmla="*/ 58 w 140"/>
                <a:gd name="T23" fmla="*/ 239 h 257"/>
                <a:gd name="T24" fmla="*/ 49 w 140"/>
                <a:gd name="T25" fmla="*/ 222 h 257"/>
                <a:gd name="T26" fmla="*/ 0 w 140"/>
                <a:gd name="T27" fmla="*/ 58 h 257"/>
                <a:gd name="T28" fmla="*/ 0 w 140"/>
                <a:gd name="T29" fmla="*/ 40 h 257"/>
                <a:gd name="T30" fmla="*/ 5 w 140"/>
                <a:gd name="T31" fmla="*/ 23 h 257"/>
                <a:gd name="T32" fmla="*/ 18 w 140"/>
                <a:gd name="T33" fmla="*/ 11 h 257"/>
                <a:gd name="T34" fmla="*/ 33 w 140"/>
                <a:gd name="T35" fmla="*/ 2 h 257"/>
                <a:gd name="T36" fmla="*/ 53 w 140"/>
                <a:gd name="T37"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0" h="257">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3" name="Freeform 17"/>
            <p:cNvSpPr>
              <a:spLocks/>
            </p:cNvSpPr>
            <p:nvPr userDrawn="1"/>
          </p:nvSpPr>
          <p:spPr bwMode="auto">
            <a:xfrm>
              <a:off x="4910138" y="-2876550"/>
              <a:ext cx="188913" cy="561975"/>
            </a:xfrm>
            <a:custGeom>
              <a:avLst/>
              <a:gdLst>
                <a:gd name="T0" fmla="*/ 44 w 119"/>
                <a:gd name="T1" fmla="*/ 0 h 354"/>
                <a:gd name="T2" fmla="*/ 63 w 119"/>
                <a:gd name="T3" fmla="*/ 4 h 354"/>
                <a:gd name="T4" fmla="*/ 77 w 119"/>
                <a:gd name="T5" fmla="*/ 12 h 354"/>
                <a:gd name="T6" fmla="*/ 87 w 119"/>
                <a:gd name="T7" fmla="*/ 26 h 354"/>
                <a:gd name="T8" fmla="*/ 93 w 119"/>
                <a:gd name="T9" fmla="*/ 44 h 354"/>
                <a:gd name="T10" fmla="*/ 119 w 119"/>
                <a:gd name="T11" fmla="*/ 306 h 354"/>
                <a:gd name="T12" fmla="*/ 115 w 119"/>
                <a:gd name="T13" fmla="*/ 323 h 354"/>
                <a:gd name="T14" fmla="*/ 107 w 119"/>
                <a:gd name="T15" fmla="*/ 339 h 354"/>
                <a:gd name="T16" fmla="*/ 93 w 119"/>
                <a:gd name="T17" fmla="*/ 349 h 354"/>
                <a:gd name="T18" fmla="*/ 75 w 119"/>
                <a:gd name="T19" fmla="*/ 354 h 354"/>
                <a:gd name="T20" fmla="*/ 58 w 119"/>
                <a:gd name="T21" fmla="*/ 351 h 354"/>
                <a:gd name="T22" fmla="*/ 42 w 119"/>
                <a:gd name="T23" fmla="*/ 342 h 354"/>
                <a:gd name="T24" fmla="*/ 32 w 119"/>
                <a:gd name="T25" fmla="*/ 328 h 354"/>
                <a:gd name="T26" fmla="*/ 26 w 119"/>
                <a:gd name="T27" fmla="*/ 311 h 354"/>
                <a:gd name="T28" fmla="*/ 0 w 119"/>
                <a:gd name="T29" fmla="*/ 49 h 354"/>
                <a:gd name="T30" fmla="*/ 4 w 119"/>
                <a:gd name="T31" fmla="*/ 32 h 354"/>
                <a:gd name="T32" fmla="*/ 12 w 119"/>
                <a:gd name="T33" fmla="*/ 16 h 354"/>
                <a:gd name="T34" fmla="*/ 26 w 119"/>
                <a:gd name="T35" fmla="*/ 5 h 354"/>
                <a:gd name="T36" fmla="*/ 44 w 119"/>
                <a:gd name="T37"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9" h="354">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4" name="Freeform 18"/>
            <p:cNvSpPr>
              <a:spLocks/>
            </p:cNvSpPr>
            <p:nvPr userDrawn="1"/>
          </p:nvSpPr>
          <p:spPr bwMode="auto">
            <a:xfrm>
              <a:off x="5541963" y="-3081338"/>
              <a:ext cx="174625" cy="703263"/>
            </a:xfrm>
            <a:custGeom>
              <a:avLst/>
              <a:gdLst>
                <a:gd name="T0" fmla="*/ 68 w 110"/>
                <a:gd name="T1" fmla="*/ 0 h 443"/>
                <a:gd name="T2" fmla="*/ 86 w 110"/>
                <a:gd name="T3" fmla="*/ 5 h 443"/>
                <a:gd name="T4" fmla="*/ 100 w 110"/>
                <a:gd name="T5" fmla="*/ 16 h 443"/>
                <a:gd name="T6" fmla="*/ 107 w 110"/>
                <a:gd name="T7" fmla="*/ 31 h 443"/>
                <a:gd name="T8" fmla="*/ 110 w 110"/>
                <a:gd name="T9" fmla="*/ 51 h 443"/>
                <a:gd name="T10" fmla="*/ 93 w 110"/>
                <a:gd name="T11" fmla="*/ 401 h 443"/>
                <a:gd name="T12" fmla="*/ 87 w 110"/>
                <a:gd name="T13" fmla="*/ 419 h 443"/>
                <a:gd name="T14" fmla="*/ 75 w 110"/>
                <a:gd name="T15" fmla="*/ 433 h 443"/>
                <a:gd name="T16" fmla="*/ 61 w 110"/>
                <a:gd name="T17" fmla="*/ 442 h 443"/>
                <a:gd name="T18" fmla="*/ 42 w 110"/>
                <a:gd name="T19" fmla="*/ 443 h 443"/>
                <a:gd name="T20" fmla="*/ 25 w 110"/>
                <a:gd name="T21" fmla="*/ 438 h 443"/>
                <a:gd name="T22" fmla="*/ 11 w 110"/>
                <a:gd name="T23" fmla="*/ 426 h 443"/>
                <a:gd name="T24" fmla="*/ 2 w 110"/>
                <a:gd name="T25" fmla="*/ 412 h 443"/>
                <a:gd name="T26" fmla="*/ 0 w 110"/>
                <a:gd name="T27" fmla="*/ 393 h 443"/>
                <a:gd name="T28" fmla="*/ 18 w 110"/>
                <a:gd name="T29" fmla="*/ 42 h 443"/>
                <a:gd name="T30" fmla="*/ 23 w 110"/>
                <a:gd name="T31" fmla="*/ 24 h 443"/>
                <a:gd name="T32" fmla="*/ 33 w 110"/>
                <a:gd name="T33" fmla="*/ 10 h 443"/>
                <a:gd name="T34" fmla="*/ 49 w 110"/>
                <a:gd name="T35" fmla="*/ 2 h 443"/>
                <a:gd name="T36" fmla="*/ 68 w 110"/>
                <a:gd name="T37" fmla="*/ 0 h 4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0" h="443">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5" name="Freeform 19"/>
            <p:cNvSpPr>
              <a:spLocks/>
            </p:cNvSpPr>
            <p:nvPr userDrawn="1"/>
          </p:nvSpPr>
          <p:spPr bwMode="auto">
            <a:xfrm>
              <a:off x="6140451" y="-3203575"/>
              <a:ext cx="271463" cy="831850"/>
            </a:xfrm>
            <a:custGeom>
              <a:avLst/>
              <a:gdLst>
                <a:gd name="T0" fmla="*/ 119 w 171"/>
                <a:gd name="T1" fmla="*/ 0 h 524"/>
                <a:gd name="T2" fmla="*/ 136 w 171"/>
                <a:gd name="T3" fmla="*/ 0 h 524"/>
                <a:gd name="T4" fmla="*/ 154 w 171"/>
                <a:gd name="T5" fmla="*/ 9 h 524"/>
                <a:gd name="T6" fmla="*/ 166 w 171"/>
                <a:gd name="T7" fmla="*/ 21 h 524"/>
                <a:gd name="T8" fmla="*/ 171 w 171"/>
                <a:gd name="T9" fmla="*/ 37 h 524"/>
                <a:gd name="T10" fmla="*/ 171 w 171"/>
                <a:gd name="T11" fmla="*/ 56 h 524"/>
                <a:gd name="T12" fmla="*/ 91 w 171"/>
                <a:gd name="T13" fmla="*/ 489 h 524"/>
                <a:gd name="T14" fmla="*/ 84 w 171"/>
                <a:gd name="T15" fmla="*/ 506 h 524"/>
                <a:gd name="T16" fmla="*/ 70 w 171"/>
                <a:gd name="T17" fmla="*/ 517 h 524"/>
                <a:gd name="T18" fmla="*/ 54 w 171"/>
                <a:gd name="T19" fmla="*/ 524 h 524"/>
                <a:gd name="T20" fmla="*/ 37 w 171"/>
                <a:gd name="T21" fmla="*/ 524 h 524"/>
                <a:gd name="T22" fmla="*/ 19 w 171"/>
                <a:gd name="T23" fmla="*/ 517 h 524"/>
                <a:gd name="T24" fmla="*/ 7 w 171"/>
                <a:gd name="T25" fmla="*/ 503 h 524"/>
                <a:gd name="T26" fmla="*/ 0 w 171"/>
                <a:gd name="T27" fmla="*/ 487 h 524"/>
                <a:gd name="T28" fmla="*/ 2 w 171"/>
                <a:gd name="T29" fmla="*/ 468 h 524"/>
                <a:gd name="T30" fmla="*/ 82 w 171"/>
                <a:gd name="T31" fmla="*/ 35 h 524"/>
                <a:gd name="T32" fmla="*/ 89 w 171"/>
                <a:gd name="T33" fmla="*/ 19 h 524"/>
                <a:gd name="T34" fmla="*/ 101 w 171"/>
                <a:gd name="T35" fmla="*/ 7 h 524"/>
                <a:gd name="T36" fmla="*/ 119 w 171"/>
                <a:gd name="T37" fmla="*/ 0 h 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1" h="524">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6" name="Freeform 20"/>
            <p:cNvSpPr>
              <a:spLocks/>
            </p:cNvSpPr>
            <p:nvPr userDrawn="1"/>
          </p:nvSpPr>
          <p:spPr bwMode="auto">
            <a:xfrm>
              <a:off x="6724651" y="-3240088"/>
              <a:ext cx="404813" cy="950913"/>
            </a:xfrm>
            <a:custGeom>
              <a:avLst/>
              <a:gdLst>
                <a:gd name="T0" fmla="*/ 206 w 255"/>
                <a:gd name="T1" fmla="*/ 0 h 599"/>
                <a:gd name="T2" fmla="*/ 226 w 255"/>
                <a:gd name="T3" fmla="*/ 4 h 599"/>
                <a:gd name="T4" fmla="*/ 241 w 255"/>
                <a:gd name="T5" fmla="*/ 13 h 599"/>
                <a:gd name="T6" fmla="*/ 252 w 255"/>
                <a:gd name="T7" fmla="*/ 27 h 599"/>
                <a:gd name="T8" fmla="*/ 255 w 255"/>
                <a:gd name="T9" fmla="*/ 44 h 599"/>
                <a:gd name="T10" fmla="*/ 254 w 255"/>
                <a:gd name="T11" fmla="*/ 62 h 599"/>
                <a:gd name="T12" fmla="*/ 90 w 255"/>
                <a:gd name="T13" fmla="*/ 569 h 599"/>
                <a:gd name="T14" fmla="*/ 81 w 255"/>
                <a:gd name="T15" fmla="*/ 585 h 599"/>
                <a:gd name="T16" fmla="*/ 65 w 255"/>
                <a:gd name="T17" fmla="*/ 596 h 599"/>
                <a:gd name="T18" fmla="*/ 49 w 255"/>
                <a:gd name="T19" fmla="*/ 599 h 599"/>
                <a:gd name="T20" fmla="*/ 30 w 255"/>
                <a:gd name="T21" fmla="*/ 597 h 599"/>
                <a:gd name="T22" fmla="*/ 14 w 255"/>
                <a:gd name="T23" fmla="*/ 587 h 599"/>
                <a:gd name="T24" fmla="*/ 4 w 255"/>
                <a:gd name="T25" fmla="*/ 573 h 599"/>
                <a:gd name="T26" fmla="*/ 0 w 255"/>
                <a:gd name="T27" fmla="*/ 556 h 599"/>
                <a:gd name="T28" fmla="*/ 2 w 255"/>
                <a:gd name="T29" fmla="*/ 538 h 599"/>
                <a:gd name="T30" fmla="*/ 166 w 255"/>
                <a:gd name="T31" fmla="*/ 30 h 599"/>
                <a:gd name="T32" fmla="*/ 175 w 255"/>
                <a:gd name="T33" fmla="*/ 16 h 599"/>
                <a:gd name="T34" fmla="*/ 191 w 255"/>
                <a:gd name="T35" fmla="*/ 6 h 599"/>
                <a:gd name="T36" fmla="*/ 206 w 255"/>
                <a:gd name="T37" fmla="*/ 0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5" h="599">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7" name="Freeform 21"/>
            <p:cNvSpPr>
              <a:spLocks/>
            </p:cNvSpPr>
            <p:nvPr userDrawn="1"/>
          </p:nvSpPr>
          <p:spPr bwMode="auto">
            <a:xfrm>
              <a:off x="7299326" y="-3173413"/>
              <a:ext cx="558800" cy="1039813"/>
            </a:xfrm>
            <a:custGeom>
              <a:avLst/>
              <a:gdLst>
                <a:gd name="T0" fmla="*/ 309 w 352"/>
                <a:gd name="T1" fmla="*/ 0 h 655"/>
                <a:gd name="T2" fmla="*/ 326 w 352"/>
                <a:gd name="T3" fmla="*/ 6 h 655"/>
                <a:gd name="T4" fmla="*/ 342 w 352"/>
                <a:gd name="T5" fmla="*/ 18 h 655"/>
                <a:gd name="T6" fmla="*/ 349 w 352"/>
                <a:gd name="T7" fmla="*/ 32 h 655"/>
                <a:gd name="T8" fmla="*/ 352 w 352"/>
                <a:gd name="T9" fmla="*/ 49 h 655"/>
                <a:gd name="T10" fmla="*/ 347 w 352"/>
                <a:gd name="T11" fmla="*/ 68 h 655"/>
                <a:gd name="T12" fmla="*/ 87 w 352"/>
                <a:gd name="T13" fmla="*/ 630 h 655"/>
                <a:gd name="T14" fmla="*/ 77 w 352"/>
                <a:gd name="T15" fmla="*/ 644 h 655"/>
                <a:gd name="T16" fmla="*/ 61 w 352"/>
                <a:gd name="T17" fmla="*/ 653 h 655"/>
                <a:gd name="T18" fmla="*/ 43 w 352"/>
                <a:gd name="T19" fmla="*/ 655 h 655"/>
                <a:gd name="T20" fmla="*/ 26 w 352"/>
                <a:gd name="T21" fmla="*/ 650 h 655"/>
                <a:gd name="T22" fmla="*/ 10 w 352"/>
                <a:gd name="T23" fmla="*/ 639 h 655"/>
                <a:gd name="T24" fmla="*/ 3 w 352"/>
                <a:gd name="T25" fmla="*/ 623 h 655"/>
                <a:gd name="T26" fmla="*/ 0 w 352"/>
                <a:gd name="T27" fmla="*/ 606 h 655"/>
                <a:gd name="T28" fmla="*/ 5 w 352"/>
                <a:gd name="T29" fmla="*/ 589 h 655"/>
                <a:gd name="T30" fmla="*/ 265 w 352"/>
                <a:gd name="T31" fmla="*/ 27 h 655"/>
                <a:gd name="T32" fmla="*/ 276 w 352"/>
                <a:gd name="T33" fmla="*/ 11 h 655"/>
                <a:gd name="T34" fmla="*/ 291 w 352"/>
                <a:gd name="T35" fmla="*/ 4 h 655"/>
                <a:gd name="T36" fmla="*/ 309 w 352"/>
                <a:gd name="T37" fmla="*/ 0 h 6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655">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8" name="Freeform 22"/>
            <p:cNvSpPr>
              <a:spLocks/>
            </p:cNvSpPr>
            <p:nvPr userDrawn="1"/>
          </p:nvSpPr>
          <p:spPr bwMode="auto">
            <a:xfrm>
              <a:off x="7864476" y="-3006725"/>
              <a:ext cx="720725" cy="1103313"/>
            </a:xfrm>
            <a:custGeom>
              <a:avLst/>
              <a:gdLst>
                <a:gd name="T0" fmla="*/ 417 w 454"/>
                <a:gd name="T1" fmla="*/ 0 h 695"/>
                <a:gd name="T2" fmla="*/ 433 w 454"/>
                <a:gd name="T3" fmla="*/ 7 h 695"/>
                <a:gd name="T4" fmla="*/ 447 w 454"/>
                <a:gd name="T5" fmla="*/ 21 h 695"/>
                <a:gd name="T6" fmla="*/ 454 w 454"/>
                <a:gd name="T7" fmla="*/ 37 h 695"/>
                <a:gd name="T8" fmla="*/ 454 w 454"/>
                <a:gd name="T9" fmla="*/ 54 h 695"/>
                <a:gd name="T10" fmla="*/ 447 w 454"/>
                <a:gd name="T11" fmla="*/ 72 h 695"/>
                <a:gd name="T12" fmla="*/ 84 w 454"/>
                <a:gd name="T13" fmla="*/ 676 h 695"/>
                <a:gd name="T14" fmla="*/ 70 w 454"/>
                <a:gd name="T15" fmla="*/ 688 h 695"/>
                <a:gd name="T16" fmla="*/ 54 w 454"/>
                <a:gd name="T17" fmla="*/ 695 h 695"/>
                <a:gd name="T18" fmla="*/ 37 w 454"/>
                <a:gd name="T19" fmla="*/ 695 h 695"/>
                <a:gd name="T20" fmla="*/ 19 w 454"/>
                <a:gd name="T21" fmla="*/ 688 h 695"/>
                <a:gd name="T22" fmla="*/ 7 w 454"/>
                <a:gd name="T23" fmla="*/ 676 h 695"/>
                <a:gd name="T24" fmla="*/ 0 w 454"/>
                <a:gd name="T25" fmla="*/ 660 h 695"/>
                <a:gd name="T26" fmla="*/ 0 w 454"/>
                <a:gd name="T27" fmla="*/ 642 h 695"/>
                <a:gd name="T28" fmla="*/ 7 w 454"/>
                <a:gd name="T29" fmla="*/ 625 h 695"/>
                <a:gd name="T30" fmla="*/ 370 w 454"/>
                <a:gd name="T31" fmla="*/ 21 h 695"/>
                <a:gd name="T32" fmla="*/ 382 w 454"/>
                <a:gd name="T33" fmla="*/ 7 h 695"/>
                <a:gd name="T34" fmla="*/ 400 w 454"/>
                <a:gd name="T35" fmla="*/ 0 h 695"/>
                <a:gd name="T36" fmla="*/ 417 w 454"/>
                <a:gd name="T37" fmla="*/ 0 h 6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4" h="695">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9" name="Freeform 23"/>
            <p:cNvSpPr>
              <a:spLocks/>
            </p:cNvSpPr>
            <p:nvPr userDrawn="1"/>
          </p:nvSpPr>
          <p:spPr bwMode="auto">
            <a:xfrm>
              <a:off x="8393113" y="-2740025"/>
              <a:ext cx="909638" cy="1138238"/>
            </a:xfrm>
            <a:custGeom>
              <a:avLst/>
              <a:gdLst>
                <a:gd name="T0" fmla="*/ 522 w 573"/>
                <a:gd name="T1" fmla="*/ 0 h 717"/>
                <a:gd name="T2" fmla="*/ 540 w 573"/>
                <a:gd name="T3" fmla="*/ 1 h 717"/>
                <a:gd name="T4" fmla="*/ 557 w 573"/>
                <a:gd name="T5" fmla="*/ 10 h 717"/>
                <a:gd name="T6" fmla="*/ 568 w 573"/>
                <a:gd name="T7" fmla="*/ 24 h 717"/>
                <a:gd name="T8" fmla="*/ 573 w 573"/>
                <a:gd name="T9" fmla="*/ 40 h 717"/>
                <a:gd name="T10" fmla="*/ 571 w 573"/>
                <a:gd name="T11" fmla="*/ 57 h 717"/>
                <a:gd name="T12" fmla="*/ 562 w 573"/>
                <a:gd name="T13" fmla="*/ 75 h 717"/>
                <a:gd name="T14" fmla="*/ 81 w 573"/>
                <a:gd name="T15" fmla="*/ 700 h 717"/>
                <a:gd name="T16" fmla="*/ 67 w 573"/>
                <a:gd name="T17" fmla="*/ 712 h 717"/>
                <a:gd name="T18" fmla="*/ 51 w 573"/>
                <a:gd name="T19" fmla="*/ 717 h 717"/>
                <a:gd name="T20" fmla="*/ 32 w 573"/>
                <a:gd name="T21" fmla="*/ 715 h 717"/>
                <a:gd name="T22" fmla="*/ 16 w 573"/>
                <a:gd name="T23" fmla="*/ 707 h 717"/>
                <a:gd name="T24" fmla="*/ 5 w 573"/>
                <a:gd name="T25" fmla="*/ 693 h 717"/>
                <a:gd name="T26" fmla="*/ 0 w 573"/>
                <a:gd name="T27" fmla="*/ 675 h 717"/>
                <a:gd name="T28" fmla="*/ 2 w 573"/>
                <a:gd name="T29" fmla="*/ 658 h 717"/>
                <a:gd name="T30" fmla="*/ 11 w 573"/>
                <a:gd name="T31" fmla="*/ 642 h 717"/>
                <a:gd name="T32" fmla="*/ 491 w 573"/>
                <a:gd name="T33" fmla="*/ 15 h 717"/>
                <a:gd name="T34" fmla="*/ 506 w 573"/>
                <a:gd name="T35" fmla="*/ 3 h 717"/>
                <a:gd name="T36" fmla="*/ 522 w 573"/>
                <a:gd name="T37" fmla="*/ 0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3" h="717">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3" name="Text Placeholder 2"/>
          <p:cNvSpPr>
            <a:spLocks noGrp="1"/>
          </p:cNvSpPr>
          <p:nvPr userDrawn="1">
            <p:ph type="body" idx="1"/>
          </p:nvPr>
        </p:nvSpPr>
        <p:spPr>
          <a:xfrm>
            <a:off x="380010" y="1481446"/>
            <a:ext cx="838398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userDrawn="1">
            <p:ph type="sldNum" sz="quarter" idx="4"/>
          </p:nvPr>
        </p:nvSpPr>
        <p:spPr>
          <a:xfrm>
            <a:off x="8122757" y="6363712"/>
            <a:ext cx="861671" cy="365125"/>
          </a:xfrm>
          <a:prstGeom prst="rect">
            <a:avLst/>
          </a:prstGeom>
        </p:spPr>
        <p:txBody>
          <a:bodyPr vert="horz" lIns="91440" tIns="45720" rIns="91440" bIns="45720" rtlCol="0" anchor="ctr"/>
          <a:lstStyle>
            <a:lvl1pPr algn="r">
              <a:defRPr sz="1200" b="0">
                <a:solidFill>
                  <a:schemeClr val="accent2"/>
                </a:solidFill>
              </a:defRPr>
            </a:lvl1pPr>
          </a:lstStyle>
          <a:p>
            <a:fld id="{F6728BC2-ACA3-447C-A909-F3F49211C066}" type="slidenum">
              <a:rPr lang="en-US" smtClean="0"/>
              <a:pPr/>
              <a:t>‹#›</a:t>
            </a:fld>
            <a:endParaRPr lang="en-US" dirty="0"/>
          </a:p>
        </p:txBody>
      </p:sp>
      <p:sp>
        <p:nvSpPr>
          <p:cNvPr id="2" name="Title Placeholder 1"/>
          <p:cNvSpPr>
            <a:spLocks noGrp="1"/>
          </p:cNvSpPr>
          <p:nvPr userDrawn="1">
            <p:ph type="title"/>
          </p:nvPr>
        </p:nvSpPr>
        <p:spPr>
          <a:xfrm>
            <a:off x="380010" y="-4950"/>
            <a:ext cx="6222671" cy="1224150"/>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14600464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704" r:id="rId3"/>
    <p:sldLayoutId id="2147483705" r:id="rId4"/>
    <p:sldLayoutId id="2147483694" r:id="rId5"/>
    <p:sldLayoutId id="2147483698" r:id="rId6"/>
    <p:sldLayoutId id="2147483699" r:id="rId7"/>
    <p:sldLayoutId id="2147483695" r:id="rId8"/>
    <p:sldLayoutId id="2147483703" r:id="rId9"/>
    <p:sldLayoutId id="2147483701" r:id="rId10"/>
    <p:sldLayoutId id="2147483702" r:id="rId11"/>
    <p:sldLayoutId id="2147483696" r:id="rId12"/>
    <p:sldLayoutId id="2147483697" r:id="rId13"/>
    <p:sldLayoutId id="2147483706" r:id="rId14"/>
    <p:sldLayoutId id="2147483707" r:id="rId15"/>
  </p:sldLayoutIdLst>
  <p:hf hdr="0" ftr="0" dt="0"/>
  <p:txStyles>
    <p:titleStyle>
      <a:lvl1pPr algn="l" defTabSz="914400" rtl="0" eaLnBrk="1" latinLnBrk="0" hangingPunct="1">
        <a:spcBef>
          <a:spcPct val="0"/>
        </a:spcBef>
        <a:buNone/>
        <a:defRPr sz="2400" b="1" kern="1200" spc="100" baseline="0">
          <a:solidFill>
            <a:schemeClr val="bg1"/>
          </a:solidFill>
          <a:latin typeface="+mj-lt"/>
          <a:ea typeface="+mj-ea"/>
          <a:cs typeface="+mj-cs"/>
        </a:defRPr>
      </a:lvl1pPr>
    </p:titleStyle>
    <p:bodyStyle>
      <a:lvl1pPr marL="342900" indent="-342900" algn="l" defTabSz="914400" rtl="0" eaLnBrk="1" latinLnBrk="0" hangingPunct="1">
        <a:spcBef>
          <a:spcPct val="20000"/>
        </a:spcBef>
        <a:buClr>
          <a:schemeClr val="accent1"/>
        </a:buClr>
        <a:buFont typeface="Arial" panose="020B0604020202020204" pitchFamily="34" charset="0"/>
        <a:buChar char="•"/>
        <a:defRPr sz="2800" kern="120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US"/>
          </a:p>
        </p:txBody>
      </p:sp>
      <p:sp>
        <p:nvSpPr>
          <p:cNvPr id="5" name="Title 4">
            <a:extLst>
              <a:ext uri="{FF2B5EF4-FFF2-40B4-BE49-F238E27FC236}">
                <a16:creationId xmlns:a16="http://schemas.microsoft.com/office/drawing/2014/main" id="{07A1EBCD-4831-59E4-AF54-61F13329BBE5}"/>
              </a:ext>
            </a:extLst>
          </p:cNvPr>
          <p:cNvSpPr>
            <a:spLocks noGrp="1"/>
          </p:cNvSpPr>
          <p:nvPr>
            <p:ph type="ctrTitle"/>
          </p:nvPr>
        </p:nvSpPr>
        <p:spPr/>
        <p:txBody>
          <a:bodyPr/>
          <a:lstStyle/>
          <a:p>
            <a:r>
              <a:rPr lang="en-US" dirty="0"/>
              <a:t>Introduction to AI + ML</a:t>
            </a:r>
          </a:p>
        </p:txBody>
      </p:sp>
    </p:spTree>
    <p:extLst>
      <p:ext uri="{BB962C8B-B14F-4D97-AF65-F5344CB8AC3E}">
        <p14:creationId xmlns:p14="http://schemas.microsoft.com/office/powerpoint/2010/main" val="23937962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6728BC2-ACA3-447C-A909-F3F49211C066}" type="slidenum">
              <a:rPr lang="en-US" smtClean="0"/>
              <a:pPr/>
              <a:t>1</a:t>
            </a:fld>
            <a:endParaRPr lang="en-US" dirty="0"/>
          </a:p>
        </p:txBody>
      </p:sp>
      <p:sp>
        <p:nvSpPr>
          <p:cNvPr id="8" name="Title 7">
            <a:extLst>
              <a:ext uri="{FF2B5EF4-FFF2-40B4-BE49-F238E27FC236}">
                <a16:creationId xmlns:a16="http://schemas.microsoft.com/office/drawing/2014/main" id="{5C8A36B9-6DAA-9178-3579-608F2BF231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2FB6D359-271F-7BC2-20B4-ACE4AE76B86F}"/>
              </a:ext>
            </a:extLst>
          </p:cNvPr>
          <p:cNvSpPr>
            <a:spLocks noGrp="1"/>
          </p:cNvSpPr>
          <p:nvPr>
            <p:ph idx="1"/>
          </p:nvPr>
        </p:nvSpPr>
        <p:spPr/>
        <p:txBody>
          <a:bodyPr/>
          <a:lstStyle/>
          <a:p>
            <a:r>
              <a:rPr lang="en-US" dirty="0"/>
              <a:t>Introduction to Artificial Intelligence</a:t>
            </a:r>
          </a:p>
          <a:p>
            <a:r>
              <a:rPr lang="en-US" dirty="0"/>
              <a:t>Introduction to Machine Learning</a:t>
            </a:r>
          </a:p>
          <a:p>
            <a:r>
              <a:rPr lang="en-US" dirty="0"/>
              <a:t>ML Learning Types</a:t>
            </a:r>
          </a:p>
          <a:p>
            <a:r>
              <a:rPr lang="en-US" dirty="0"/>
              <a:t>Introduction to Deep Learning</a:t>
            </a:r>
          </a:p>
          <a:p>
            <a:r>
              <a:rPr lang="en-US" dirty="0"/>
              <a:t>Introduction to Generative AI</a:t>
            </a:r>
          </a:p>
          <a:p>
            <a:r>
              <a:rPr lang="en-US" dirty="0"/>
              <a:t>Content Generation</a:t>
            </a:r>
          </a:p>
        </p:txBody>
      </p:sp>
    </p:spTree>
    <p:extLst>
      <p:ext uri="{BB962C8B-B14F-4D97-AF65-F5344CB8AC3E}">
        <p14:creationId xmlns:p14="http://schemas.microsoft.com/office/powerpoint/2010/main" val="3975998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8AAE37-6C44-EFD1-A224-1FC82F61AD6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597E6BDC-DC3A-A131-3C64-1F04AFB6626D}"/>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Artificial Intelligence</a:t>
            </a:r>
          </a:p>
        </p:txBody>
      </p:sp>
      <p:pic>
        <p:nvPicPr>
          <p:cNvPr id="6" name="Picture 5">
            <a:extLst>
              <a:ext uri="{FF2B5EF4-FFF2-40B4-BE49-F238E27FC236}">
                <a16:creationId xmlns:a16="http://schemas.microsoft.com/office/drawing/2014/main" id="{8A8E09B7-A980-6E75-DAC8-46C12A48941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72010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6" name="Content Placeholder 5">
            <a:extLst>
              <a:ext uri="{FF2B5EF4-FFF2-40B4-BE49-F238E27FC236}">
                <a16:creationId xmlns:a16="http://schemas.microsoft.com/office/drawing/2014/main" id="{87444B04-2EA6-FCF4-5F43-ABE166F4F8F0}"/>
              </a:ext>
            </a:extLst>
          </p:cNvPr>
          <p:cNvSpPr>
            <a:spLocks noGrp="1"/>
          </p:cNvSpPr>
          <p:nvPr>
            <p:ph idx="1"/>
          </p:nvPr>
        </p:nvSpPr>
        <p:spPr/>
        <p:txBody>
          <a:bodyPr>
            <a:normAutofit fontScale="92500" lnSpcReduction="10000"/>
          </a:bodyPr>
          <a:lstStyle/>
          <a:p>
            <a:r>
              <a:rPr lang="en-US" dirty="0"/>
              <a:t>Artificial Intelligence (AI) is a broad field of computer science focused on building systems that can perform tasks normally requiring human intelligence</a:t>
            </a:r>
          </a:p>
          <a:p>
            <a:pPr lvl="1"/>
            <a:r>
              <a:rPr lang="en-US" dirty="0"/>
              <a:t>Tasks: Reasoning, learning, perception, decision making</a:t>
            </a:r>
          </a:p>
          <a:p>
            <a:r>
              <a:rPr lang="en-US" dirty="0"/>
              <a:t>AI is not one technology – it is an umbrella term covering many different techniques and approaches</a:t>
            </a:r>
          </a:p>
          <a:p>
            <a:pPr lvl="1"/>
            <a:r>
              <a:rPr lang="en-US" dirty="0"/>
              <a:t>AI research and development began in the 1950s</a:t>
            </a:r>
          </a:p>
          <a:p>
            <a:r>
              <a:rPr lang="en-US" dirty="0"/>
              <a:t>Three Common “levels” of AI:</a:t>
            </a:r>
          </a:p>
          <a:p>
            <a:pPr lvl="1"/>
            <a:r>
              <a:rPr lang="en-US" dirty="0"/>
              <a:t>Artificial Narrow Intelligence (Narrow AI)</a:t>
            </a:r>
          </a:p>
          <a:p>
            <a:pPr lvl="1"/>
            <a:r>
              <a:rPr lang="en-US" dirty="0"/>
              <a:t>Artificial General Intelligence (General AI)</a:t>
            </a:r>
          </a:p>
          <a:p>
            <a:pPr lvl="1"/>
            <a:r>
              <a:rPr lang="en-US" dirty="0"/>
              <a:t>Artificial Superintelligence (Super intelligent AI)</a:t>
            </a:r>
          </a:p>
          <a:p>
            <a:pPr lvl="1"/>
            <a:endParaRPr lang="en-US" dirty="0"/>
          </a:p>
        </p:txBody>
      </p:sp>
      <p:sp>
        <p:nvSpPr>
          <p:cNvPr id="5" name="Title 4">
            <a:extLst>
              <a:ext uri="{FF2B5EF4-FFF2-40B4-BE49-F238E27FC236}">
                <a16:creationId xmlns:a16="http://schemas.microsoft.com/office/drawing/2014/main" id="{7C96D22E-EB01-37C9-6E05-231DE113DD86}"/>
              </a:ext>
            </a:extLst>
          </p:cNvPr>
          <p:cNvSpPr>
            <a:spLocks noGrp="1"/>
          </p:cNvSpPr>
          <p:nvPr>
            <p:ph type="title"/>
          </p:nvPr>
        </p:nvSpPr>
        <p:spPr/>
        <p:txBody>
          <a:bodyPr/>
          <a:lstStyle/>
          <a:p>
            <a:r>
              <a:rPr lang="en-US" dirty="0"/>
              <a:t>Intro to AI</a:t>
            </a:r>
          </a:p>
        </p:txBody>
      </p:sp>
    </p:spTree>
    <p:extLst>
      <p:ext uri="{BB962C8B-B14F-4D97-AF65-F5344CB8AC3E}">
        <p14:creationId xmlns:p14="http://schemas.microsoft.com/office/powerpoint/2010/main" val="195743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928C1-B13B-84ED-00FE-6DEEE75175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CD466-78D9-20F5-3DD4-98A0666CD4B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5" name="Title 4">
            <a:extLst>
              <a:ext uri="{FF2B5EF4-FFF2-40B4-BE49-F238E27FC236}">
                <a16:creationId xmlns:a16="http://schemas.microsoft.com/office/drawing/2014/main" id="{A873F74E-2E29-9AFE-763E-38BA770347ED}"/>
              </a:ext>
            </a:extLst>
          </p:cNvPr>
          <p:cNvSpPr>
            <a:spLocks noGrp="1"/>
          </p:cNvSpPr>
          <p:nvPr>
            <p:ph type="title"/>
          </p:nvPr>
        </p:nvSpPr>
        <p:spPr/>
        <p:txBody>
          <a:bodyPr/>
          <a:lstStyle/>
          <a:p>
            <a:r>
              <a:rPr lang="en-US" dirty="0"/>
              <a:t>Three Common “Levels” of AI</a:t>
            </a:r>
          </a:p>
        </p:txBody>
      </p:sp>
      <p:graphicFrame>
        <p:nvGraphicFramePr>
          <p:cNvPr id="2" name="Table 1">
            <a:extLst>
              <a:ext uri="{FF2B5EF4-FFF2-40B4-BE49-F238E27FC236}">
                <a16:creationId xmlns:a16="http://schemas.microsoft.com/office/drawing/2014/main" id="{6FFB0F31-F016-7BCA-357E-380EFD1647BE}"/>
              </a:ext>
            </a:extLst>
          </p:cNvPr>
          <p:cNvGraphicFramePr>
            <a:graphicFrameLocks noGrp="1"/>
          </p:cNvGraphicFramePr>
          <p:nvPr>
            <p:extLst>
              <p:ext uri="{D42A27DB-BD31-4B8C-83A1-F6EECF244321}">
                <p14:modId xmlns:p14="http://schemas.microsoft.com/office/powerpoint/2010/main" val="2327901634"/>
              </p:ext>
            </p:extLst>
          </p:nvPr>
        </p:nvGraphicFramePr>
        <p:xfrm>
          <a:off x="159574" y="4279554"/>
          <a:ext cx="8824854" cy="2204720"/>
        </p:xfrm>
        <a:graphic>
          <a:graphicData uri="http://schemas.openxmlformats.org/drawingml/2006/table">
            <a:tbl>
              <a:tblPr firstRow="1" bandRow="1">
                <a:tableStyleId>{5C22544A-7EE6-4342-B048-85BDC9FD1C3A}</a:tableStyleId>
              </a:tblPr>
              <a:tblGrid>
                <a:gridCol w="2905173">
                  <a:extLst>
                    <a:ext uri="{9D8B030D-6E8A-4147-A177-3AD203B41FA5}">
                      <a16:colId xmlns:a16="http://schemas.microsoft.com/office/drawing/2014/main" val="4202507141"/>
                    </a:ext>
                  </a:extLst>
                </a:gridCol>
                <a:gridCol w="2441750">
                  <a:extLst>
                    <a:ext uri="{9D8B030D-6E8A-4147-A177-3AD203B41FA5}">
                      <a16:colId xmlns:a16="http://schemas.microsoft.com/office/drawing/2014/main" val="1773761132"/>
                    </a:ext>
                  </a:extLst>
                </a:gridCol>
                <a:gridCol w="3477931">
                  <a:extLst>
                    <a:ext uri="{9D8B030D-6E8A-4147-A177-3AD203B41FA5}">
                      <a16:colId xmlns:a16="http://schemas.microsoft.com/office/drawing/2014/main" val="3231311561"/>
                    </a:ext>
                  </a:extLst>
                </a:gridCol>
              </a:tblGrid>
              <a:tr h="370840">
                <a:tc>
                  <a:txBody>
                    <a:bodyPr/>
                    <a:lstStyle/>
                    <a:p>
                      <a:r>
                        <a:rPr lang="en-US" sz="1400" dirty="0"/>
                        <a:t>Level</a:t>
                      </a:r>
                    </a:p>
                  </a:txBody>
                  <a:tcPr/>
                </a:tc>
                <a:tc>
                  <a:txBody>
                    <a:bodyPr/>
                    <a:lstStyle/>
                    <a:p>
                      <a:r>
                        <a:rPr lang="en-US" sz="1400" dirty="0"/>
                        <a:t>Status Today</a:t>
                      </a:r>
                    </a:p>
                  </a:txBody>
                  <a:tcPr/>
                </a:tc>
                <a:tc>
                  <a:txBody>
                    <a:bodyPr/>
                    <a:lstStyle/>
                    <a:p>
                      <a:r>
                        <a:rPr lang="en-US" sz="1400" dirty="0"/>
                        <a:t>Examples</a:t>
                      </a:r>
                    </a:p>
                  </a:txBody>
                  <a:tcPr/>
                </a:tc>
                <a:extLst>
                  <a:ext uri="{0D108BD9-81ED-4DB2-BD59-A6C34878D82A}">
                    <a16:rowId xmlns:a16="http://schemas.microsoft.com/office/drawing/2014/main" val="3394265451"/>
                  </a:ext>
                </a:extLst>
              </a:tr>
              <a:tr h="370840">
                <a:tc>
                  <a:txBody>
                    <a:bodyPr/>
                    <a:lstStyle/>
                    <a:p>
                      <a:r>
                        <a:rPr lang="en-US" sz="1400" dirty="0">
                          <a:latin typeface="Courier New" panose="02070309020205020404" pitchFamily="49" charset="0"/>
                          <a:cs typeface="Courier New" panose="02070309020205020404" pitchFamily="49" charset="0"/>
                        </a:rPr>
                        <a:t>Narrow AI (ANI)</a:t>
                      </a:r>
                    </a:p>
                  </a:txBody>
                  <a:tcPr/>
                </a:tc>
                <a:tc>
                  <a:txBody>
                    <a:bodyPr/>
                    <a:lstStyle/>
                    <a:p>
                      <a:r>
                        <a:rPr lang="en-US" sz="1400" dirty="0">
                          <a:latin typeface="Courier New" panose="02070309020205020404" pitchFamily="49" charset="0"/>
                          <a:cs typeface="Courier New" panose="02070309020205020404" pitchFamily="49" charset="0"/>
                        </a:rPr>
                        <a:t>Exists – Widely used</a:t>
                      </a:r>
                    </a:p>
                  </a:txBody>
                  <a:tcPr/>
                </a:tc>
                <a:tc>
                  <a:txBody>
                    <a:bodyPr/>
                    <a:lstStyle/>
                    <a:p>
                      <a:r>
                        <a:rPr lang="en-US" sz="1400" dirty="0">
                          <a:latin typeface="Courier New" panose="02070309020205020404" pitchFamily="49" charset="0"/>
                          <a:cs typeface="Courier New" panose="02070309020205020404" pitchFamily="49" charset="0"/>
                        </a:rPr>
                        <a:t>Spam filters, voice assistants, Recommendation engines, LLMs</a:t>
                      </a:r>
                    </a:p>
                  </a:txBody>
                  <a:tcPr/>
                </a:tc>
                <a:extLst>
                  <a:ext uri="{0D108BD9-81ED-4DB2-BD59-A6C34878D82A}">
                    <a16:rowId xmlns:a16="http://schemas.microsoft.com/office/drawing/2014/main" val="2748510336"/>
                  </a:ext>
                </a:extLst>
              </a:tr>
              <a:tr h="370840">
                <a:tc>
                  <a:txBody>
                    <a:bodyPr/>
                    <a:lstStyle/>
                    <a:p>
                      <a:r>
                        <a:rPr lang="en-US" sz="1400" dirty="0">
                          <a:latin typeface="Courier New" panose="02070309020205020404" pitchFamily="49" charset="0"/>
                          <a:cs typeface="Courier New" panose="02070309020205020404" pitchFamily="49" charset="0"/>
                        </a:rPr>
                        <a:t>General AI (AGI)</a:t>
                      </a:r>
                    </a:p>
                  </a:txBody>
                  <a:tcPr/>
                </a:tc>
                <a:tc>
                  <a:txBody>
                    <a:bodyPr/>
                    <a:lstStyle/>
                    <a:p>
                      <a:r>
                        <a:rPr lang="en-US" sz="1400" dirty="0">
                          <a:latin typeface="Courier New" panose="02070309020205020404" pitchFamily="49" charset="0"/>
                          <a:cs typeface="Courier New" panose="02070309020205020404" pitchFamily="49" charset="0"/>
                        </a:rPr>
                        <a:t>Hypothetical</a:t>
                      </a:r>
                    </a:p>
                  </a:txBody>
                  <a:tcPr/>
                </a:tc>
                <a:tc>
                  <a:txBody>
                    <a:bodyPr/>
                    <a:lstStyle/>
                    <a:p>
                      <a:r>
                        <a:rPr lang="en-US" sz="1400" dirty="0">
                          <a:latin typeface="Courier New" panose="02070309020205020404" pitchFamily="49" charset="0"/>
                          <a:cs typeface="Courier New" panose="02070309020205020404" pitchFamily="49" charset="0"/>
                        </a:rPr>
                        <a:t>N/a – research goals (GPT-6 is a step towards, but not quite there)</a:t>
                      </a:r>
                    </a:p>
                  </a:txBody>
                  <a:tcPr/>
                </a:tc>
                <a:extLst>
                  <a:ext uri="{0D108BD9-81ED-4DB2-BD59-A6C34878D82A}">
                    <a16:rowId xmlns:a16="http://schemas.microsoft.com/office/drawing/2014/main" val="2124088066"/>
                  </a:ext>
                </a:extLst>
              </a:tr>
              <a:tr h="370840">
                <a:tc>
                  <a:txBody>
                    <a:bodyPr/>
                    <a:lstStyle/>
                    <a:p>
                      <a:r>
                        <a:rPr lang="en-US" sz="1400" dirty="0">
                          <a:latin typeface="Courier New" panose="02070309020205020404" pitchFamily="49" charset="0"/>
                          <a:cs typeface="Courier New" panose="02070309020205020404" pitchFamily="49" charset="0"/>
                        </a:rPr>
                        <a:t>Superintelligence (ASI)</a:t>
                      </a:r>
                    </a:p>
                  </a:txBody>
                  <a:tcPr/>
                </a:tc>
                <a:tc>
                  <a:txBody>
                    <a:bodyPr/>
                    <a:lstStyle/>
                    <a:p>
                      <a:r>
                        <a:rPr lang="en-US" sz="1400" dirty="0">
                          <a:latin typeface="Courier New" panose="02070309020205020404" pitchFamily="49" charset="0"/>
                          <a:cs typeface="Courier New" panose="02070309020205020404" pitchFamily="49" charset="0"/>
                        </a:rPr>
                        <a:t>Theoretical</a:t>
                      </a:r>
                    </a:p>
                  </a:txBody>
                  <a:tcPr/>
                </a:tc>
                <a:tc>
                  <a:txBody>
                    <a:bodyPr/>
                    <a:lstStyle/>
                    <a:p>
                      <a:r>
                        <a:rPr lang="en-US" sz="1400" dirty="0">
                          <a:latin typeface="Courier New" panose="02070309020205020404" pitchFamily="49" charset="0"/>
                          <a:cs typeface="Courier New" panose="02070309020205020404" pitchFamily="49" charset="0"/>
                        </a:rPr>
                        <a:t>N/a – speculative</a:t>
                      </a:r>
                    </a:p>
                  </a:txBody>
                  <a:tcPr/>
                </a:tc>
                <a:extLst>
                  <a:ext uri="{0D108BD9-81ED-4DB2-BD59-A6C34878D82A}">
                    <a16:rowId xmlns:a16="http://schemas.microsoft.com/office/drawing/2014/main" val="1418808306"/>
                  </a:ext>
                </a:extLst>
              </a:tr>
            </a:tbl>
          </a:graphicData>
        </a:graphic>
      </p:graphicFrame>
      <p:sp>
        <p:nvSpPr>
          <p:cNvPr id="6" name="Content Placeholder 5">
            <a:extLst>
              <a:ext uri="{FF2B5EF4-FFF2-40B4-BE49-F238E27FC236}">
                <a16:creationId xmlns:a16="http://schemas.microsoft.com/office/drawing/2014/main" id="{C3D4AC23-4BB3-2439-0F52-3929EFEB1A29}"/>
              </a:ext>
            </a:extLst>
          </p:cNvPr>
          <p:cNvSpPr txBox="1">
            <a:spLocks/>
          </p:cNvSpPr>
          <p:nvPr/>
        </p:nvSpPr>
        <p:spPr>
          <a:xfrm>
            <a:off x="340730" y="1481445"/>
            <a:ext cx="8462539" cy="255799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Arial" panose="020B0604020202020204" pitchFamily="34" charset="0"/>
              <a:buChar char="•"/>
              <a:defRPr sz="2800" kern="1200" baseline="0">
                <a:solidFill>
                  <a:schemeClr val="tx2"/>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chemeClr val="accent1"/>
              </a:buClr>
              <a:buFont typeface="Arial" panose="020B0604020202020204" pitchFamily="34" charset="0"/>
              <a:buChar char="–"/>
              <a:defRPr sz="2400" kern="1200" baseline="0">
                <a:solidFill>
                  <a:schemeClr val="tx2"/>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chemeClr val="accent1"/>
              </a:buClr>
              <a:buFont typeface="Arial" panose="020B0604020202020204" pitchFamily="34" charset="0"/>
              <a:buChar char="•"/>
              <a:defRPr sz="2000" kern="1200" baseline="0">
                <a:solidFill>
                  <a:schemeClr val="tx2"/>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chemeClr val="accent1"/>
              </a:buClr>
              <a:buFont typeface="Arial" panose="020B0604020202020204" pitchFamily="34" charset="0"/>
              <a:buChar char="»"/>
              <a:defRPr sz="1800" kern="1200" baseline="0">
                <a:solidFill>
                  <a:schemeClr val="tx2"/>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b="1" dirty="0"/>
              <a:t>Narrow AI</a:t>
            </a:r>
            <a:r>
              <a:rPr lang="en-US" dirty="0"/>
              <a:t>: Systems built for one specific task.</a:t>
            </a:r>
          </a:p>
          <a:p>
            <a:r>
              <a:rPr lang="en-US" b="1" dirty="0"/>
              <a:t>General AI</a:t>
            </a:r>
            <a:r>
              <a:rPr lang="en-US" dirty="0"/>
              <a:t>: A hypothetical system with human-level reasoning across any task.</a:t>
            </a:r>
          </a:p>
          <a:p>
            <a:r>
              <a:rPr lang="en-US" b="1" dirty="0"/>
              <a:t>Super intelligent AI</a:t>
            </a:r>
            <a:r>
              <a:rPr lang="en-US" dirty="0"/>
              <a:t>: A hypothetical AI surpassing human intelligence broadly.</a:t>
            </a:r>
          </a:p>
          <a:p>
            <a:pPr lvl="1"/>
            <a:endParaRPr lang="en-US" dirty="0"/>
          </a:p>
        </p:txBody>
      </p:sp>
    </p:spTree>
    <p:extLst>
      <p:ext uri="{BB962C8B-B14F-4D97-AF65-F5344CB8AC3E}">
        <p14:creationId xmlns:p14="http://schemas.microsoft.com/office/powerpoint/2010/main" val="311121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C95F8-8EA6-8FFD-F630-58131953508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55C6B8-C557-9365-082A-F60C89FCD3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6" name="Content Placeholder 5">
            <a:extLst>
              <a:ext uri="{FF2B5EF4-FFF2-40B4-BE49-F238E27FC236}">
                <a16:creationId xmlns:a16="http://schemas.microsoft.com/office/drawing/2014/main" id="{BC3F3B5B-ED23-065D-4669-1CB9C985F00C}"/>
              </a:ext>
            </a:extLst>
          </p:cNvPr>
          <p:cNvSpPr>
            <a:spLocks noGrp="1"/>
          </p:cNvSpPr>
          <p:nvPr>
            <p:ph idx="1"/>
          </p:nvPr>
        </p:nvSpPr>
        <p:spPr>
          <a:xfrm>
            <a:off x="380010" y="1436914"/>
            <a:ext cx="8383980" cy="5291923"/>
          </a:xfrm>
        </p:spPr>
        <p:txBody>
          <a:bodyPr>
            <a:normAutofit fontScale="70000" lnSpcReduction="20000"/>
          </a:bodyPr>
          <a:lstStyle/>
          <a:p>
            <a:r>
              <a:rPr lang="en-US" dirty="0"/>
              <a:t>Narrow AI is used broadly today.</a:t>
            </a:r>
          </a:p>
          <a:p>
            <a:r>
              <a:rPr lang="en-US" dirty="0"/>
              <a:t>Everyday examples of Narrow AI:</a:t>
            </a:r>
          </a:p>
          <a:p>
            <a:pPr lvl="1"/>
            <a:r>
              <a:rPr lang="en-US" dirty="0"/>
              <a:t>Recommendation engines (Netflix, Spotify, YouTube)</a:t>
            </a:r>
          </a:p>
          <a:p>
            <a:pPr lvl="1"/>
            <a:r>
              <a:rPr lang="en-US" dirty="0"/>
              <a:t>Navigation Apps predicting traffic</a:t>
            </a:r>
          </a:p>
          <a:p>
            <a:pPr lvl="1"/>
            <a:r>
              <a:rPr lang="en-US" dirty="0"/>
              <a:t>Spam detection</a:t>
            </a:r>
          </a:p>
          <a:p>
            <a:pPr lvl="1"/>
            <a:r>
              <a:rPr lang="en-US" dirty="0"/>
              <a:t>Chatbots</a:t>
            </a:r>
          </a:p>
          <a:p>
            <a:pPr lvl="1"/>
            <a:r>
              <a:rPr lang="en-US" dirty="0"/>
              <a:t>Image recognition in phone cameras</a:t>
            </a:r>
          </a:p>
          <a:p>
            <a:r>
              <a:rPr lang="en-US" b="1" dirty="0"/>
              <a:t>Machine Learning</a:t>
            </a:r>
            <a:r>
              <a:rPr lang="en-US" dirty="0"/>
              <a:t>: subset of AI in which systems learn patterns from data.</a:t>
            </a:r>
          </a:p>
          <a:p>
            <a:r>
              <a:rPr lang="en-US" b="1" dirty="0"/>
              <a:t>Deep Learning</a:t>
            </a:r>
            <a:r>
              <a:rPr lang="en-US" dirty="0"/>
              <a:t>: subset of machine learning which adds layered neural networks</a:t>
            </a:r>
          </a:p>
          <a:p>
            <a:r>
              <a:rPr lang="en-US" b="1" dirty="0"/>
              <a:t>Generative AI</a:t>
            </a:r>
            <a:r>
              <a:rPr lang="en-US" dirty="0"/>
              <a:t>: A subset of deep learning focused on </a:t>
            </a:r>
            <a:r>
              <a:rPr lang="en-US" i="1" dirty="0"/>
              <a:t>creating new</a:t>
            </a:r>
            <a:r>
              <a:rPr lang="en-US" dirty="0"/>
              <a:t> content (text, images, audio, code), rather than classifying or predicting from existing data.</a:t>
            </a:r>
          </a:p>
          <a:p>
            <a:pPr lvl="1"/>
            <a:r>
              <a:rPr lang="en-US" dirty="0"/>
              <a:t>Examples: Claude, ChatGPT, Midjourney, GitHub Copilot</a:t>
            </a:r>
          </a:p>
          <a:p>
            <a:r>
              <a:rPr lang="en-US" dirty="0"/>
              <a:t>As a developer, it is important to understand where a project’s ‘AI’ claim sits.</a:t>
            </a:r>
          </a:p>
          <a:p>
            <a:pPr lvl="1"/>
            <a:r>
              <a:rPr lang="en-US" dirty="0"/>
              <a:t>Rule-based system? Predictive ML model? Generative model?</a:t>
            </a:r>
          </a:p>
          <a:p>
            <a:pPr lvl="1"/>
            <a:r>
              <a:rPr lang="en-US" dirty="0"/>
              <a:t>This shapes what you can realistically build, test and debug</a:t>
            </a:r>
          </a:p>
          <a:p>
            <a:endParaRPr lang="en-US" dirty="0"/>
          </a:p>
        </p:txBody>
      </p:sp>
      <p:sp>
        <p:nvSpPr>
          <p:cNvPr id="5" name="Title 4">
            <a:extLst>
              <a:ext uri="{FF2B5EF4-FFF2-40B4-BE49-F238E27FC236}">
                <a16:creationId xmlns:a16="http://schemas.microsoft.com/office/drawing/2014/main" id="{54CBF3BE-D8D0-08F5-E145-90AB6B79D505}"/>
              </a:ext>
            </a:extLst>
          </p:cNvPr>
          <p:cNvSpPr>
            <a:spLocks noGrp="1"/>
          </p:cNvSpPr>
          <p:nvPr>
            <p:ph type="title"/>
          </p:nvPr>
        </p:nvSpPr>
        <p:spPr/>
        <p:txBody>
          <a:bodyPr/>
          <a:lstStyle/>
          <a:p>
            <a:r>
              <a:rPr lang="en-US" dirty="0"/>
              <a:t>AI Intro (</a:t>
            </a:r>
            <a:r>
              <a:rPr lang="en-US" dirty="0" err="1"/>
              <a:t>cont</a:t>
            </a:r>
            <a:r>
              <a:rPr lang="en-US" dirty="0"/>
              <a:t>)</a:t>
            </a:r>
          </a:p>
        </p:txBody>
      </p:sp>
    </p:spTree>
    <p:extLst>
      <p:ext uri="{BB962C8B-B14F-4D97-AF65-F5344CB8AC3E}">
        <p14:creationId xmlns:p14="http://schemas.microsoft.com/office/powerpoint/2010/main" val="2648009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0C49D-687D-FB49-1083-676E02BFFE2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59912FD-AF20-38A0-34C6-2F09A4788D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5" name="Title 4">
            <a:extLst>
              <a:ext uri="{FF2B5EF4-FFF2-40B4-BE49-F238E27FC236}">
                <a16:creationId xmlns:a16="http://schemas.microsoft.com/office/drawing/2014/main" id="{FC3A8FF3-74AF-6E38-ECAD-E5097A7E3C04}"/>
              </a:ext>
            </a:extLst>
          </p:cNvPr>
          <p:cNvSpPr>
            <a:spLocks noGrp="1"/>
          </p:cNvSpPr>
          <p:nvPr>
            <p:ph type="title"/>
          </p:nvPr>
        </p:nvSpPr>
        <p:spPr/>
        <p:txBody>
          <a:bodyPr/>
          <a:lstStyle/>
          <a:p>
            <a:r>
              <a:rPr lang="en-US" dirty="0"/>
              <a:t>AI Subsets</a:t>
            </a:r>
          </a:p>
        </p:txBody>
      </p:sp>
      <p:pic>
        <p:nvPicPr>
          <p:cNvPr id="8" name="Picture 7">
            <a:extLst>
              <a:ext uri="{FF2B5EF4-FFF2-40B4-BE49-F238E27FC236}">
                <a16:creationId xmlns:a16="http://schemas.microsoft.com/office/drawing/2014/main" id="{6DBE60C6-B9BD-F62E-6868-3170F06E27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3384" y="1219200"/>
            <a:ext cx="7737231" cy="5638800"/>
          </a:xfrm>
          <a:prstGeom prst="rect">
            <a:avLst/>
          </a:prstGeom>
        </p:spPr>
      </p:pic>
    </p:spTree>
    <p:extLst>
      <p:ext uri="{BB962C8B-B14F-4D97-AF65-F5344CB8AC3E}">
        <p14:creationId xmlns:p14="http://schemas.microsoft.com/office/powerpoint/2010/main" val="1191884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2A92D-B9E3-F0C4-14AA-E5A04744180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0018CD-3020-5748-DF1E-F96F395147C0}"/>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7</a:t>
            </a:fld>
            <a:endParaRPr lang="en-US"/>
          </a:p>
        </p:txBody>
      </p:sp>
      <p:sp>
        <p:nvSpPr>
          <p:cNvPr id="4" name="Google Shape;212;p15">
            <a:extLst>
              <a:ext uri="{FF2B5EF4-FFF2-40B4-BE49-F238E27FC236}">
                <a16:creationId xmlns:a16="http://schemas.microsoft.com/office/drawing/2014/main" id="{BFC0206F-6EA9-52D3-E0C3-CEBC55CCD6A4}"/>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Machine Learning</a:t>
            </a:r>
          </a:p>
        </p:txBody>
      </p:sp>
      <p:pic>
        <p:nvPicPr>
          <p:cNvPr id="6" name="Picture 5">
            <a:extLst>
              <a:ext uri="{FF2B5EF4-FFF2-40B4-BE49-F238E27FC236}">
                <a16:creationId xmlns:a16="http://schemas.microsoft.com/office/drawing/2014/main" id="{3A01D6E3-1F75-6749-A842-669E85470677}"/>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810563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768E-AF8A-4697-79BA-4017A5E3EDB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09F607-5C3D-29DE-69FF-A0CEE3D2AE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
        <p:nvSpPr>
          <p:cNvPr id="6" name="Content Placeholder 5">
            <a:extLst>
              <a:ext uri="{FF2B5EF4-FFF2-40B4-BE49-F238E27FC236}">
                <a16:creationId xmlns:a16="http://schemas.microsoft.com/office/drawing/2014/main" id="{47F29BF9-F9CB-CB45-3C32-87025A84FD3D}"/>
              </a:ext>
            </a:extLst>
          </p:cNvPr>
          <p:cNvSpPr>
            <a:spLocks noGrp="1"/>
          </p:cNvSpPr>
          <p:nvPr>
            <p:ph idx="1"/>
          </p:nvPr>
        </p:nvSpPr>
        <p:spPr>
          <a:xfrm>
            <a:off x="380010" y="1481446"/>
            <a:ext cx="8383980" cy="4882266"/>
          </a:xfrm>
        </p:spPr>
        <p:txBody>
          <a:bodyPr>
            <a:normAutofit fontScale="85000" lnSpcReduction="10000"/>
          </a:bodyPr>
          <a:lstStyle/>
          <a:p>
            <a:r>
              <a:rPr lang="en-US" b="1" dirty="0"/>
              <a:t>Machine Learning </a:t>
            </a:r>
            <a:r>
              <a:rPr lang="en-US" dirty="0"/>
              <a:t>(ML) is a subset of AI in which systems learn patterns from data, rather than being explicitly programmed with fixed rules for every scenario.</a:t>
            </a:r>
          </a:p>
          <a:p>
            <a:r>
              <a:rPr lang="en-US" dirty="0"/>
              <a:t>Traditional programming vs ML Programming:</a:t>
            </a:r>
          </a:p>
          <a:p>
            <a:pPr lvl="1"/>
            <a:r>
              <a:rPr lang="en-US" b="1" dirty="0"/>
              <a:t>Traditional Programming</a:t>
            </a:r>
            <a:r>
              <a:rPr lang="en-US" dirty="0"/>
              <a:t>: </a:t>
            </a:r>
          </a:p>
          <a:p>
            <a:pPr marL="1371600" lvl="2" indent="-457200">
              <a:buFont typeface="+mj-lt"/>
              <a:buAutoNum type="arabicPeriod"/>
            </a:pPr>
            <a:r>
              <a:rPr lang="en-US" dirty="0"/>
              <a:t>Developer writes explicit rules </a:t>
            </a:r>
          </a:p>
          <a:p>
            <a:pPr marL="1371600" lvl="2" indent="-457200">
              <a:buFont typeface="+mj-lt"/>
              <a:buAutoNum type="arabicPeriod"/>
            </a:pPr>
            <a:r>
              <a:rPr lang="en-US" dirty="0"/>
              <a:t>Program applies rules to data</a:t>
            </a:r>
          </a:p>
          <a:p>
            <a:pPr marL="1371600" lvl="2" indent="-457200">
              <a:buFont typeface="+mj-lt"/>
              <a:buAutoNum type="arabicPeriod"/>
            </a:pPr>
            <a:r>
              <a:rPr lang="en-US" dirty="0"/>
              <a:t>Program produces output</a:t>
            </a:r>
          </a:p>
          <a:p>
            <a:pPr lvl="1"/>
            <a:r>
              <a:rPr lang="en-US" b="1" dirty="0"/>
              <a:t>Machine Learning Programming</a:t>
            </a:r>
            <a:r>
              <a:rPr lang="en-US" dirty="0"/>
              <a:t>:</a:t>
            </a:r>
          </a:p>
          <a:p>
            <a:pPr marL="1371600" lvl="2" indent="-457200">
              <a:buFont typeface="+mj-lt"/>
              <a:buAutoNum type="arabicPeriod"/>
            </a:pPr>
            <a:r>
              <a:rPr lang="en-US" dirty="0"/>
              <a:t>Developer provides data and desired outcomes</a:t>
            </a:r>
          </a:p>
          <a:p>
            <a:pPr marL="1371600" lvl="2" indent="-457200">
              <a:buFont typeface="+mj-lt"/>
              <a:buAutoNum type="arabicPeriod"/>
            </a:pPr>
            <a:r>
              <a:rPr lang="en-US" dirty="0"/>
              <a:t>The algorithm learns the rules (a “model” is formed)</a:t>
            </a:r>
          </a:p>
          <a:p>
            <a:pPr marL="1371600" lvl="2" indent="-457200">
              <a:buFont typeface="+mj-lt"/>
              <a:buAutoNum type="arabicPeriod"/>
            </a:pPr>
            <a:r>
              <a:rPr lang="en-US" dirty="0"/>
              <a:t>The model applies those learned rules to new data</a:t>
            </a:r>
          </a:p>
          <a:p>
            <a:r>
              <a:rPr lang="en-US" dirty="0"/>
              <a:t>Common real-world ML applications:</a:t>
            </a:r>
          </a:p>
          <a:p>
            <a:pPr lvl="1"/>
            <a:r>
              <a:rPr lang="en-US" dirty="0"/>
              <a:t>Email spam filters, product recommendations, credit scoring, predictive text</a:t>
            </a:r>
          </a:p>
        </p:txBody>
      </p:sp>
      <p:sp>
        <p:nvSpPr>
          <p:cNvPr id="5" name="Title 4">
            <a:extLst>
              <a:ext uri="{FF2B5EF4-FFF2-40B4-BE49-F238E27FC236}">
                <a16:creationId xmlns:a16="http://schemas.microsoft.com/office/drawing/2014/main" id="{A8A21D5B-161C-649B-D9C4-02D7AF3EC0A6}"/>
              </a:ext>
            </a:extLst>
          </p:cNvPr>
          <p:cNvSpPr>
            <a:spLocks noGrp="1"/>
          </p:cNvSpPr>
          <p:nvPr>
            <p:ph type="title"/>
          </p:nvPr>
        </p:nvSpPr>
        <p:spPr/>
        <p:txBody>
          <a:bodyPr/>
          <a:lstStyle/>
          <a:p>
            <a:r>
              <a:rPr lang="en-US" dirty="0"/>
              <a:t>Machine Learning</a:t>
            </a:r>
          </a:p>
        </p:txBody>
      </p:sp>
    </p:spTree>
    <p:extLst>
      <p:ext uri="{BB962C8B-B14F-4D97-AF65-F5344CB8AC3E}">
        <p14:creationId xmlns:p14="http://schemas.microsoft.com/office/powerpoint/2010/main" val="1605917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013E-39ED-99B4-F9B0-427682E9C15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443C0F-E1F1-886A-C99C-820F4DAE11E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6" name="Content Placeholder 5">
            <a:extLst>
              <a:ext uri="{FF2B5EF4-FFF2-40B4-BE49-F238E27FC236}">
                <a16:creationId xmlns:a16="http://schemas.microsoft.com/office/drawing/2014/main" id="{DD277831-28A1-0D33-1297-69A92C903F9E}"/>
              </a:ext>
            </a:extLst>
          </p:cNvPr>
          <p:cNvSpPr>
            <a:spLocks noGrp="1"/>
          </p:cNvSpPr>
          <p:nvPr>
            <p:ph idx="1"/>
          </p:nvPr>
        </p:nvSpPr>
        <p:spPr>
          <a:xfrm>
            <a:off x="380010" y="1481446"/>
            <a:ext cx="8383980" cy="4882266"/>
          </a:xfrm>
        </p:spPr>
        <p:txBody>
          <a:bodyPr>
            <a:normAutofit lnSpcReduction="10000"/>
          </a:bodyPr>
          <a:lstStyle/>
          <a:p>
            <a:r>
              <a:rPr lang="en-US" b="1" dirty="0"/>
              <a:t>Model</a:t>
            </a:r>
            <a:r>
              <a:rPr lang="en-US" dirty="0"/>
              <a:t>: The trained system that makes predictions or decisions</a:t>
            </a:r>
          </a:p>
          <a:p>
            <a:r>
              <a:rPr lang="en-US" b="1" dirty="0"/>
              <a:t>Training Data</a:t>
            </a:r>
            <a:r>
              <a:rPr lang="en-US" dirty="0"/>
              <a:t>: The historical data used to teach the model</a:t>
            </a:r>
          </a:p>
          <a:p>
            <a:r>
              <a:rPr lang="en-US" b="1" dirty="0"/>
              <a:t>Training</a:t>
            </a:r>
            <a:r>
              <a:rPr lang="en-US" dirty="0"/>
              <a:t>: The process of the algorithm learning patterns from data</a:t>
            </a:r>
          </a:p>
          <a:p>
            <a:r>
              <a:rPr lang="en-US" b="1" dirty="0"/>
              <a:t>Features</a:t>
            </a:r>
            <a:r>
              <a:rPr lang="en-US" dirty="0"/>
              <a:t>: The individual measurable inputs the model uses (e.g. square footage, number of bedrooms)</a:t>
            </a:r>
          </a:p>
          <a:p>
            <a:r>
              <a:rPr lang="en-US" b="1" dirty="0"/>
              <a:t>Prediction / Inference</a:t>
            </a:r>
            <a:r>
              <a:rPr lang="en-US" dirty="0"/>
              <a:t>: The model’s output when given new, unseen data.</a:t>
            </a:r>
          </a:p>
          <a:p>
            <a:endParaRPr lang="en-US" dirty="0"/>
          </a:p>
          <a:p>
            <a:pPr lvl="1"/>
            <a:endParaRPr lang="en-US" dirty="0"/>
          </a:p>
        </p:txBody>
      </p:sp>
      <p:sp>
        <p:nvSpPr>
          <p:cNvPr id="5" name="Title 4">
            <a:extLst>
              <a:ext uri="{FF2B5EF4-FFF2-40B4-BE49-F238E27FC236}">
                <a16:creationId xmlns:a16="http://schemas.microsoft.com/office/drawing/2014/main" id="{CD4EB80B-E0CD-8CFA-E9A6-903093F072CE}"/>
              </a:ext>
            </a:extLst>
          </p:cNvPr>
          <p:cNvSpPr>
            <a:spLocks noGrp="1"/>
          </p:cNvSpPr>
          <p:nvPr>
            <p:ph type="title"/>
          </p:nvPr>
        </p:nvSpPr>
        <p:spPr/>
        <p:txBody>
          <a:bodyPr/>
          <a:lstStyle/>
          <a:p>
            <a:r>
              <a:rPr lang="en-US" dirty="0"/>
              <a:t>Machine Learning | Key Terms</a:t>
            </a:r>
          </a:p>
        </p:txBody>
      </p:sp>
    </p:spTree>
    <p:extLst>
      <p:ext uri="{BB962C8B-B14F-4D97-AF65-F5344CB8AC3E}">
        <p14:creationId xmlns:p14="http://schemas.microsoft.com/office/powerpoint/2010/main" val="2677365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4E1C6-F68B-1630-75DF-D0D2CFC0485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408CB4-AEDC-7652-6D3D-F0D7F4DA9E7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6" name="Content Placeholder 5">
            <a:extLst>
              <a:ext uri="{FF2B5EF4-FFF2-40B4-BE49-F238E27FC236}">
                <a16:creationId xmlns:a16="http://schemas.microsoft.com/office/drawing/2014/main" id="{4279AC95-E4E8-3220-347D-C9490A7300C7}"/>
              </a:ext>
            </a:extLst>
          </p:cNvPr>
          <p:cNvSpPr>
            <a:spLocks noGrp="1"/>
          </p:cNvSpPr>
          <p:nvPr>
            <p:ph idx="1"/>
          </p:nvPr>
        </p:nvSpPr>
        <p:spPr>
          <a:xfrm>
            <a:off x="380010" y="1481446"/>
            <a:ext cx="8383980" cy="4882266"/>
          </a:xfrm>
        </p:spPr>
        <p:txBody>
          <a:bodyPr>
            <a:normAutofit/>
          </a:bodyPr>
          <a:lstStyle/>
          <a:p>
            <a:r>
              <a:rPr lang="en-US" dirty="0"/>
              <a:t>Why does ML exist?</a:t>
            </a:r>
          </a:p>
          <a:p>
            <a:r>
              <a:rPr lang="en-US" dirty="0"/>
              <a:t>Some problems are too complex, nuanced, or data-drive to hand-code effective rules for</a:t>
            </a:r>
          </a:p>
          <a:p>
            <a:pPr lvl="1"/>
            <a:r>
              <a:rPr lang="en-US" dirty="0"/>
              <a:t>Fraud detection, recommending products, recognizing handwriting</a:t>
            </a:r>
          </a:p>
          <a:p>
            <a:r>
              <a:rPr lang="en-US" dirty="0"/>
              <a:t>Machine Learning is not “magic” – it uses a combination of statistics and pattern recognition to define outputs</a:t>
            </a:r>
          </a:p>
          <a:p>
            <a:r>
              <a:rPr lang="en-US" dirty="0"/>
              <a:t>Machine learning is only as good as the data it is trained on</a:t>
            </a:r>
          </a:p>
          <a:p>
            <a:endParaRPr lang="en-US" dirty="0"/>
          </a:p>
          <a:p>
            <a:endParaRPr lang="en-US" dirty="0"/>
          </a:p>
          <a:p>
            <a:pPr lvl="1"/>
            <a:endParaRPr lang="en-US" dirty="0"/>
          </a:p>
        </p:txBody>
      </p:sp>
      <p:sp>
        <p:nvSpPr>
          <p:cNvPr id="5" name="Title 4">
            <a:extLst>
              <a:ext uri="{FF2B5EF4-FFF2-40B4-BE49-F238E27FC236}">
                <a16:creationId xmlns:a16="http://schemas.microsoft.com/office/drawing/2014/main" id="{258E0DF9-578C-C90E-B4D7-C2D06E4A3399}"/>
              </a:ext>
            </a:extLst>
          </p:cNvPr>
          <p:cNvSpPr>
            <a:spLocks noGrp="1"/>
          </p:cNvSpPr>
          <p:nvPr>
            <p:ph type="title"/>
          </p:nvPr>
        </p:nvSpPr>
        <p:spPr/>
        <p:txBody>
          <a:bodyPr/>
          <a:lstStyle/>
          <a:p>
            <a:r>
              <a:rPr lang="en-US" dirty="0"/>
              <a:t>Machine Learning | Why?</a:t>
            </a:r>
          </a:p>
        </p:txBody>
      </p:sp>
    </p:spTree>
    <p:extLst>
      <p:ext uri="{BB962C8B-B14F-4D97-AF65-F5344CB8AC3E}">
        <p14:creationId xmlns:p14="http://schemas.microsoft.com/office/powerpoint/2010/main" val="318321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25E30-500D-0CAC-0FDA-F33C02CD46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D2252B-CA3B-251F-8C11-075F9CDCC76D}"/>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a:t>
            </a:fld>
            <a:endParaRPr lang="en-US"/>
          </a:p>
        </p:txBody>
      </p:sp>
      <p:sp>
        <p:nvSpPr>
          <p:cNvPr id="4" name="Google Shape;212;p15">
            <a:extLst>
              <a:ext uri="{FF2B5EF4-FFF2-40B4-BE49-F238E27FC236}">
                <a16:creationId xmlns:a16="http://schemas.microsoft.com/office/drawing/2014/main" id="{5387FFEB-4E17-66A3-30C1-AFC548A9064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ML Learning Types</a:t>
            </a:r>
          </a:p>
        </p:txBody>
      </p:sp>
      <p:pic>
        <p:nvPicPr>
          <p:cNvPr id="6" name="Picture 5">
            <a:extLst>
              <a:ext uri="{FF2B5EF4-FFF2-40B4-BE49-F238E27FC236}">
                <a16:creationId xmlns:a16="http://schemas.microsoft.com/office/drawing/2014/main" id="{C6797D05-83A3-B5D3-2AAA-8AA3237B879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892104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116A8-DDB6-2F3B-1D67-6BC6155BC23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C60DDE-68CD-A90A-9237-E47A76BCE9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3" name="Content Placeholder 2">
            <a:extLst>
              <a:ext uri="{FF2B5EF4-FFF2-40B4-BE49-F238E27FC236}">
                <a16:creationId xmlns:a16="http://schemas.microsoft.com/office/drawing/2014/main" id="{71097E8A-3482-C2C0-8C38-7E2C577FB7B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59457" y="2020312"/>
            <a:ext cx="7694135" cy="4525962"/>
          </a:xfrm>
          <a:prstGeom prst="rect">
            <a:avLst/>
          </a:prstGeom>
        </p:spPr>
      </p:pic>
      <p:sp>
        <p:nvSpPr>
          <p:cNvPr id="5" name="Title 4">
            <a:extLst>
              <a:ext uri="{FF2B5EF4-FFF2-40B4-BE49-F238E27FC236}">
                <a16:creationId xmlns:a16="http://schemas.microsoft.com/office/drawing/2014/main" id="{8DD62ECD-654A-AEE4-A548-51CB3FF57954}"/>
              </a:ext>
            </a:extLst>
          </p:cNvPr>
          <p:cNvSpPr>
            <a:spLocks noGrp="1"/>
          </p:cNvSpPr>
          <p:nvPr>
            <p:ph type="title"/>
          </p:nvPr>
        </p:nvSpPr>
        <p:spPr/>
        <p:txBody>
          <a:bodyPr/>
          <a:lstStyle/>
          <a:p>
            <a:r>
              <a:rPr lang="en-US" dirty="0"/>
              <a:t>Machine Learning Types</a:t>
            </a:r>
          </a:p>
        </p:txBody>
      </p:sp>
    </p:spTree>
    <p:extLst>
      <p:ext uri="{BB962C8B-B14F-4D97-AF65-F5344CB8AC3E}">
        <p14:creationId xmlns:p14="http://schemas.microsoft.com/office/powerpoint/2010/main" val="2943353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505AF-BB33-CA5C-1B49-15FD26B8E76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D29C26-6B22-6195-3D70-7E2089B602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6" name="Content Placeholder 5">
            <a:extLst>
              <a:ext uri="{FF2B5EF4-FFF2-40B4-BE49-F238E27FC236}">
                <a16:creationId xmlns:a16="http://schemas.microsoft.com/office/drawing/2014/main" id="{64A79C3D-B1A4-7544-E962-7EAD90518E2C}"/>
              </a:ext>
            </a:extLst>
          </p:cNvPr>
          <p:cNvSpPr>
            <a:spLocks noGrp="1"/>
          </p:cNvSpPr>
          <p:nvPr>
            <p:ph idx="1"/>
          </p:nvPr>
        </p:nvSpPr>
        <p:spPr/>
        <p:txBody>
          <a:bodyPr>
            <a:normAutofit fontScale="92500"/>
          </a:bodyPr>
          <a:lstStyle/>
          <a:p>
            <a:r>
              <a:rPr lang="en-US" dirty="0"/>
              <a:t>Supervised learning is a type of machine learning where the model is trained on </a:t>
            </a:r>
            <a:r>
              <a:rPr lang="en-US" b="1" i="1" dirty="0"/>
              <a:t>labeled data</a:t>
            </a:r>
          </a:p>
          <a:p>
            <a:pPr lvl="1"/>
            <a:r>
              <a:rPr lang="en-US" b="1" i="1" dirty="0"/>
              <a:t>Labeled data</a:t>
            </a:r>
            <a:r>
              <a:rPr lang="en-US" dirty="0"/>
              <a:t>: Data that already includes the “correct answer” for each example</a:t>
            </a:r>
          </a:p>
          <a:p>
            <a:r>
              <a:rPr lang="en-US" dirty="0"/>
              <a:t>The model learns to map inputs to known outputs, then applies that mapping to new, unseen data</a:t>
            </a:r>
          </a:p>
          <a:p>
            <a:r>
              <a:rPr lang="en-US" dirty="0"/>
              <a:t>Two main task types:</a:t>
            </a:r>
          </a:p>
          <a:p>
            <a:pPr lvl="1"/>
            <a:r>
              <a:rPr lang="en-US" b="1" dirty="0"/>
              <a:t>Classification</a:t>
            </a:r>
            <a:r>
              <a:rPr lang="en-US" dirty="0"/>
              <a:t>: predicting a category (e.g. “Spam”, “not Spam”</a:t>
            </a:r>
          </a:p>
          <a:p>
            <a:pPr lvl="1"/>
            <a:r>
              <a:rPr lang="en-US" b="1" dirty="0"/>
              <a:t>Regression</a:t>
            </a:r>
            <a:r>
              <a:rPr lang="en-US" dirty="0"/>
              <a:t>: predicting a numeric value (e.g. a home’s sale price)</a:t>
            </a:r>
          </a:p>
        </p:txBody>
      </p:sp>
      <p:sp>
        <p:nvSpPr>
          <p:cNvPr id="5" name="Title 4">
            <a:extLst>
              <a:ext uri="{FF2B5EF4-FFF2-40B4-BE49-F238E27FC236}">
                <a16:creationId xmlns:a16="http://schemas.microsoft.com/office/drawing/2014/main" id="{FBB67759-764F-2683-5D78-1B779683C33C}"/>
              </a:ext>
            </a:extLst>
          </p:cNvPr>
          <p:cNvSpPr>
            <a:spLocks noGrp="1"/>
          </p:cNvSpPr>
          <p:nvPr>
            <p:ph type="title"/>
          </p:nvPr>
        </p:nvSpPr>
        <p:spPr/>
        <p:txBody>
          <a:bodyPr/>
          <a:lstStyle/>
          <a:p>
            <a:r>
              <a:rPr lang="en-US" dirty="0"/>
              <a:t>Supervised Learning</a:t>
            </a:r>
          </a:p>
        </p:txBody>
      </p:sp>
    </p:spTree>
    <p:extLst>
      <p:ext uri="{BB962C8B-B14F-4D97-AF65-F5344CB8AC3E}">
        <p14:creationId xmlns:p14="http://schemas.microsoft.com/office/powerpoint/2010/main" val="435837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8F3FC-F7A4-E891-0C88-6789766B051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52692B-EEAD-B163-B8FE-32362D8CC2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
        <p:nvSpPr>
          <p:cNvPr id="6" name="Content Placeholder 5">
            <a:extLst>
              <a:ext uri="{FF2B5EF4-FFF2-40B4-BE49-F238E27FC236}">
                <a16:creationId xmlns:a16="http://schemas.microsoft.com/office/drawing/2014/main" id="{9DA26151-6F9C-4D3F-CC27-92D0EAEA4F12}"/>
              </a:ext>
            </a:extLst>
          </p:cNvPr>
          <p:cNvSpPr>
            <a:spLocks noGrp="1"/>
          </p:cNvSpPr>
          <p:nvPr>
            <p:ph idx="1"/>
          </p:nvPr>
        </p:nvSpPr>
        <p:spPr/>
        <p:txBody>
          <a:bodyPr>
            <a:normAutofit fontScale="92500"/>
          </a:bodyPr>
          <a:lstStyle/>
          <a:p>
            <a:r>
              <a:rPr lang="en-US" dirty="0"/>
              <a:t>Unsupervised Learning is a type of machine learning where the model is trained on </a:t>
            </a:r>
            <a:r>
              <a:rPr lang="en-US" b="1" i="1" dirty="0"/>
              <a:t>unlabeled data</a:t>
            </a:r>
          </a:p>
          <a:p>
            <a:pPr lvl="1"/>
            <a:r>
              <a:rPr lang="en-US" b="1" i="1" dirty="0"/>
              <a:t>Unlabeled Data</a:t>
            </a:r>
            <a:r>
              <a:rPr lang="en-US" dirty="0"/>
              <a:t>: data with no predefined “correct answer”</a:t>
            </a:r>
          </a:p>
          <a:p>
            <a:r>
              <a:rPr lang="en-US" dirty="0"/>
              <a:t>The model’s job is to find hidden structure, patterns, or groupings in the data on it’s own</a:t>
            </a:r>
          </a:p>
          <a:p>
            <a:r>
              <a:rPr lang="en-US" dirty="0"/>
              <a:t>Two main tasks:</a:t>
            </a:r>
          </a:p>
          <a:p>
            <a:pPr lvl="1"/>
            <a:r>
              <a:rPr lang="en-US" b="1" dirty="0"/>
              <a:t>Clustering</a:t>
            </a:r>
            <a:r>
              <a:rPr lang="en-US" dirty="0"/>
              <a:t>: grouping similar data points (e.g. Fraud detection, or customer segmentation)</a:t>
            </a:r>
          </a:p>
          <a:p>
            <a:pPr lvl="1"/>
            <a:r>
              <a:rPr lang="en-US" b="1" dirty="0"/>
              <a:t>Dimensionality reduction</a:t>
            </a:r>
            <a:r>
              <a:rPr lang="en-US" dirty="0"/>
              <a:t>: simplifying data while preserving important structure (e.g. recommendation systems, or image compression)</a:t>
            </a:r>
          </a:p>
        </p:txBody>
      </p:sp>
      <p:sp>
        <p:nvSpPr>
          <p:cNvPr id="5" name="Title 4">
            <a:extLst>
              <a:ext uri="{FF2B5EF4-FFF2-40B4-BE49-F238E27FC236}">
                <a16:creationId xmlns:a16="http://schemas.microsoft.com/office/drawing/2014/main" id="{37845804-9108-066B-1AB6-8130C8F0D4F0}"/>
              </a:ext>
            </a:extLst>
          </p:cNvPr>
          <p:cNvSpPr>
            <a:spLocks noGrp="1"/>
          </p:cNvSpPr>
          <p:nvPr>
            <p:ph type="title"/>
          </p:nvPr>
        </p:nvSpPr>
        <p:spPr/>
        <p:txBody>
          <a:bodyPr/>
          <a:lstStyle/>
          <a:p>
            <a:r>
              <a:rPr lang="en-US" dirty="0"/>
              <a:t>Unsupervised Learning</a:t>
            </a:r>
          </a:p>
        </p:txBody>
      </p:sp>
    </p:spTree>
    <p:extLst>
      <p:ext uri="{BB962C8B-B14F-4D97-AF65-F5344CB8AC3E}">
        <p14:creationId xmlns:p14="http://schemas.microsoft.com/office/powerpoint/2010/main" val="296872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BF3D1-176F-1404-EDA6-4C2930DBA00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CADEE80-A201-8FD6-F01A-C71E82937F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
        <p:nvSpPr>
          <p:cNvPr id="6" name="Content Placeholder 5">
            <a:extLst>
              <a:ext uri="{FF2B5EF4-FFF2-40B4-BE49-F238E27FC236}">
                <a16:creationId xmlns:a16="http://schemas.microsoft.com/office/drawing/2014/main" id="{01C45354-6840-ECA0-C336-794BD03A573F}"/>
              </a:ext>
            </a:extLst>
          </p:cNvPr>
          <p:cNvSpPr>
            <a:spLocks noGrp="1"/>
          </p:cNvSpPr>
          <p:nvPr>
            <p:ph idx="1"/>
          </p:nvPr>
        </p:nvSpPr>
        <p:spPr>
          <a:xfrm>
            <a:off x="380010" y="1481445"/>
            <a:ext cx="8383980" cy="5247391"/>
          </a:xfrm>
        </p:spPr>
        <p:txBody>
          <a:bodyPr>
            <a:normAutofit fontScale="92500" lnSpcReduction="20000"/>
          </a:bodyPr>
          <a:lstStyle/>
          <a:p>
            <a:r>
              <a:rPr lang="en-US" dirty="0"/>
              <a:t>Supervised Learning learns “</a:t>
            </a:r>
            <a:r>
              <a:rPr lang="en-US" i="1" dirty="0"/>
              <a:t>from an answer key</a:t>
            </a:r>
            <a:r>
              <a:rPr lang="en-US" dirty="0"/>
              <a:t>”; unsupervised learning “</a:t>
            </a:r>
            <a:r>
              <a:rPr lang="en-US" i="1" dirty="0"/>
              <a:t>looks for structure/patterns without one</a:t>
            </a:r>
            <a:r>
              <a:rPr lang="en-US" dirty="0"/>
              <a:t>”</a:t>
            </a:r>
          </a:p>
          <a:p>
            <a:r>
              <a:rPr lang="en-US" dirty="0"/>
              <a:t>Supervised Learning Examples:</a:t>
            </a:r>
          </a:p>
          <a:p>
            <a:pPr lvl="1"/>
            <a:r>
              <a:rPr lang="en-US" dirty="0"/>
              <a:t>Spam Detection, Credit Scoring, medical diagnosis prediction, price forecasting</a:t>
            </a:r>
          </a:p>
          <a:p>
            <a:r>
              <a:rPr lang="en-US" dirty="0"/>
              <a:t>Unsupervised Learning Examples:</a:t>
            </a:r>
          </a:p>
          <a:p>
            <a:pPr lvl="1"/>
            <a:r>
              <a:rPr lang="en-US" dirty="0"/>
              <a:t>Customer segmentation, anomaly/fraud detection, recommendation grouping, organizing large document sets</a:t>
            </a:r>
          </a:p>
          <a:p>
            <a:r>
              <a:rPr lang="en-US" dirty="0"/>
              <a:t>Neither approach is “better”, the right choices depends on whether labeled data is available and what question you are trying to answer</a:t>
            </a:r>
          </a:p>
          <a:p>
            <a:r>
              <a:rPr lang="en-US" b="1" i="1" dirty="0"/>
              <a:t>[bonus] Semi-supervised learning</a:t>
            </a:r>
            <a:r>
              <a:rPr lang="en-US" dirty="0"/>
              <a:t>: A Machine Learning type which uses a small amount of labeled data alongside a larger amount of unlabeled data.</a:t>
            </a:r>
          </a:p>
        </p:txBody>
      </p:sp>
      <p:sp>
        <p:nvSpPr>
          <p:cNvPr id="5" name="Title 4">
            <a:extLst>
              <a:ext uri="{FF2B5EF4-FFF2-40B4-BE49-F238E27FC236}">
                <a16:creationId xmlns:a16="http://schemas.microsoft.com/office/drawing/2014/main" id="{C93C2A35-E3E1-3CB0-4BC8-F9C565FD7D4A}"/>
              </a:ext>
            </a:extLst>
          </p:cNvPr>
          <p:cNvSpPr>
            <a:spLocks noGrp="1"/>
          </p:cNvSpPr>
          <p:nvPr>
            <p:ph type="title"/>
          </p:nvPr>
        </p:nvSpPr>
        <p:spPr/>
        <p:txBody>
          <a:bodyPr/>
          <a:lstStyle/>
          <a:p>
            <a:r>
              <a:rPr lang="en-US" dirty="0"/>
              <a:t>Supervised vs Unsupervised Learning</a:t>
            </a:r>
          </a:p>
        </p:txBody>
      </p:sp>
    </p:spTree>
    <p:extLst>
      <p:ext uri="{BB962C8B-B14F-4D97-AF65-F5344CB8AC3E}">
        <p14:creationId xmlns:p14="http://schemas.microsoft.com/office/powerpoint/2010/main" val="2215245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0210E-245C-180E-F32E-C7CBF224DC5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3A075F-CB1F-CDC0-1786-DA56EED6D7F8}"/>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16</a:t>
            </a:fld>
            <a:endParaRPr lang="en-US"/>
          </a:p>
        </p:txBody>
      </p:sp>
      <p:sp>
        <p:nvSpPr>
          <p:cNvPr id="4" name="Google Shape;212;p15">
            <a:extLst>
              <a:ext uri="{FF2B5EF4-FFF2-40B4-BE49-F238E27FC236}">
                <a16:creationId xmlns:a16="http://schemas.microsoft.com/office/drawing/2014/main" id="{6C3E0ACE-A43B-DE8B-612A-D00E846F7FF6}"/>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Deep Learning</a:t>
            </a:r>
          </a:p>
        </p:txBody>
      </p:sp>
      <p:pic>
        <p:nvPicPr>
          <p:cNvPr id="6" name="Picture 5">
            <a:extLst>
              <a:ext uri="{FF2B5EF4-FFF2-40B4-BE49-F238E27FC236}">
                <a16:creationId xmlns:a16="http://schemas.microsoft.com/office/drawing/2014/main" id="{A350671F-0C8B-3564-E235-D2F23955FCDA}"/>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999013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9DDE2-8565-1B8E-196A-9BA72094A4D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299CA65-5ECB-81FF-6682-D499047092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
        <p:nvSpPr>
          <p:cNvPr id="6" name="Content Placeholder 5">
            <a:extLst>
              <a:ext uri="{FF2B5EF4-FFF2-40B4-BE49-F238E27FC236}">
                <a16:creationId xmlns:a16="http://schemas.microsoft.com/office/drawing/2014/main" id="{C90FE37C-D69F-2008-A77B-706A5429403F}"/>
              </a:ext>
            </a:extLst>
          </p:cNvPr>
          <p:cNvSpPr>
            <a:spLocks noGrp="1"/>
          </p:cNvSpPr>
          <p:nvPr>
            <p:ph idx="1"/>
          </p:nvPr>
        </p:nvSpPr>
        <p:spPr/>
        <p:txBody>
          <a:bodyPr>
            <a:normAutofit fontScale="92500" lnSpcReduction="20000"/>
          </a:bodyPr>
          <a:lstStyle/>
          <a:p>
            <a:r>
              <a:rPr lang="en-US" dirty="0"/>
              <a:t>Deep Learning is a subset of machine learning in which layered neural networks are used to learn patterns from data</a:t>
            </a:r>
          </a:p>
          <a:p>
            <a:r>
              <a:rPr lang="en-US" dirty="0"/>
              <a:t>Inspired loosely by the structure of the human brain</a:t>
            </a:r>
          </a:p>
          <a:p>
            <a:r>
              <a:rPr lang="en-US" dirty="0"/>
              <a:t>Core building block: Nodes</a:t>
            </a:r>
          </a:p>
          <a:p>
            <a:r>
              <a:rPr lang="en-US" dirty="0"/>
              <a:t>The artificial Neural network, composed of layers of interconnected “neurons” (nodes):</a:t>
            </a:r>
          </a:p>
          <a:p>
            <a:pPr lvl="1"/>
            <a:r>
              <a:rPr lang="en-US" b="1" dirty="0"/>
              <a:t>Input layer</a:t>
            </a:r>
            <a:r>
              <a:rPr lang="en-US" dirty="0"/>
              <a:t>: receives the raw data (e.g. pixel values of an image)</a:t>
            </a:r>
          </a:p>
          <a:p>
            <a:pPr lvl="1"/>
            <a:r>
              <a:rPr lang="en-US" b="1" dirty="0"/>
              <a:t>Hidden Layer(s)</a:t>
            </a:r>
            <a:r>
              <a:rPr lang="en-US" dirty="0"/>
              <a:t>: intermediate layers that progressively transform and combine the data to detect patterns</a:t>
            </a:r>
          </a:p>
          <a:p>
            <a:pPr lvl="2"/>
            <a:r>
              <a:rPr lang="en-US" dirty="0"/>
              <a:t>“Deep” learning refers to having many of these layers</a:t>
            </a:r>
          </a:p>
          <a:p>
            <a:pPr lvl="1"/>
            <a:r>
              <a:rPr lang="en-US" b="1" dirty="0"/>
              <a:t>Output Layer</a:t>
            </a:r>
            <a:r>
              <a:rPr lang="en-US" dirty="0"/>
              <a:t>: produces the final prediction</a:t>
            </a:r>
          </a:p>
        </p:txBody>
      </p:sp>
      <p:sp>
        <p:nvSpPr>
          <p:cNvPr id="5" name="Title 4">
            <a:extLst>
              <a:ext uri="{FF2B5EF4-FFF2-40B4-BE49-F238E27FC236}">
                <a16:creationId xmlns:a16="http://schemas.microsoft.com/office/drawing/2014/main" id="{F81F409D-BCD6-42EE-AF3C-C48E4571C4C8}"/>
              </a:ext>
            </a:extLst>
          </p:cNvPr>
          <p:cNvSpPr>
            <a:spLocks noGrp="1"/>
          </p:cNvSpPr>
          <p:nvPr>
            <p:ph type="title"/>
          </p:nvPr>
        </p:nvSpPr>
        <p:spPr/>
        <p:txBody>
          <a:bodyPr/>
          <a:lstStyle/>
          <a:p>
            <a:r>
              <a:rPr lang="en-US" dirty="0"/>
              <a:t>Deep Learning</a:t>
            </a:r>
          </a:p>
        </p:txBody>
      </p:sp>
    </p:spTree>
    <p:extLst>
      <p:ext uri="{BB962C8B-B14F-4D97-AF65-F5344CB8AC3E}">
        <p14:creationId xmlns:p14="http://schemas.microsoft.com/office/powerpoint/2010/main" val="84596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A02D7-1D16-9788-DD06-71A380521A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94CB903-3B63-F48F-D42D-FD0C1423A7DB}"/>
              </a:ext>
            </a:extLst>
          </p:cNvPr>
          <p:cNvSpPr>
            <a:spLocks noGrp="1"/>
          </p:cNvSpPr>
          <p:nvPr>
            <p:ph type="title"/>
          </p:nvPr>
        </p:nvSpPr>
        <p:spPr>
          <a:xfrm>
            <a:off x="380010" y="-4950"/>
            <a:ext cx="6222671" cy="1224150"/>
          </a:xfrm>
        </p:spPr>
        <p:txBody>
          <a:bodyPr anchor="ctr">
            <a:normAutofit/>
          </a:bodyPr>
          <a:lstStyle/>
          <a:p>
            <a:r>
              <a:rPr lang="en-US" dirty="0"/>
              <a:t>Deep Learning | Layers</a:t>
            </a:r>
          </a:p>
        </p:txBody>
      </p:sp>
      <p:pic>
        <p:nvPicPr>
          <p:cNvPr id="8" name="Picture 7">
            <a:extLst>
              <a:ext uri="{FF2B5EF4-FFF2-40B4-BE49-F238E27FC236}">
                <a16:creationId xmlns:a16="http://schemas.microsoft.com/office/drawing/2014/main" id="{43D2E658-E7D7-45A9-C89D-93A407E64A45}"/>
              </a:ext>
            </a:extLst>
          </p:cNvPr>
          <p:cNvPicPr>
            <a:picLocks noChangeAspect="1"/>
          </p:cNvPicPr>
          <p:nvPr/>
        </p:nvPicPr>
        <p:blipFill>
          <a:blip r:embed="rId2" cstate="print">
            <a:extLst>
              <a:ext uri="{28A0092B-C50C-407E-A947-70E740481C1C}">
                <a14:useLocalDpi xmlns:a14="http://schemas.microsoft.com/office/drawing/2010/main" val="0"/>
              </a:ext>
            </a:extLst>
          </a:blip>
          <a:srcRect t="3861" b="8716"/>
          <a:stretch>
            <a:fillRect/>
          </a:stretch>
        </p:blipFill>
        <p:spPr>
          <a:xfrm>
            <a:off x="380010" y="1481446"/>
            <a:ext cx="8383980" cy="4525963"/>
          </a:xfrm>
          <a:prstGeom prst="rect">
            <a:avLst/>
          </a:prstGeom>
          <a:noFill/>
        </p:spPr>
      </p:pic>
      <p:sp>
        <p:nvSpPr>
          <p:cNvPr id="4" name="Slide Number Placeholder 3">
            <a:extLst>
              <a:ext uri="{FF2B5EF4-FFF2-40B4-BE49-F238E27FC236}">
                <a16:creationId xmlns:a16="http://schemas.microsoft.com/office/drawing/2014/main" id="{CCE3F910-CE1F-3C51-8B5C-BC2E38A68CD6}"/>
              </a:ext>
            </a:extLst>
          </p:cNvPr>
          <p:cNvSpPr>
            <a:spLocks noGrp="1"/>
          </p:cNvSpPr>
          <p:nvPr>
            <p:ph type="sldNum" sz="quarter" idx="12"/>
          </p:nvPr>
        </p:nvSpPr>
        <p:spPr>
          <a:xfrm>
            <a:off x="8122757" y="6363712"/>
            <a:ext cx="861671" cy="365125"/>
          </a:xfrm>
        </p:spPr>
        <p:txBody>
          <a:bodyPr anchor="ctr">
            <a:normAutofit/>
          </a:bodyPr>
          <a:lstStyle/>
          <a:p>
            <a:pPr marL="0" lvl="0" indent="0" rtl="0">
              <a:spcBef>
                <a:spcPts val="0"/>
              </a:spcBef>
              <a:spcAft>
                <a:spcPts val="600"/>
              </a:spcAft>
              <a:buNone/>
            </a:pPr>
            <a:fld id="{00000000-1234-1234-1234-123412341234}" type="slidenum">
              <a:rPr lang="en-US" smtClean="0"/>
              <a:pPr marL="0" lvl="0" indent="0" rtl="0">
                <a:spcBef>
                  <a:spcPts val="0"/>
                </a:spcBef>
                <a:spcAft>
                  <a:spcPts val="600"/>
                </a:spcAft>
                <a:buNone/>
              </a:pPr>
              <a:t>18</a:t>
            </a:fld>
            <a:endParaRPr lang="en-US"/>
          </a:p>
        </p:txBody>
      </p:sp>
    </p:spTree>
    <p:extLst>
      <p:ext uri="{BB962C8B-B14F-4D97-AF65-F5344CB8AC3E}">
        <p14:creationId xmlns:p14="http://schemas.microsoft.com/office/powerpoint/2010/main" val="6501103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93E72-4E57-A7D7-0A19-041586A1A80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1BA5E1-CBA4-EA81-B2D3-A56B57941D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
        <p:nvSpPr>
          <p:cNvPr id="6" name="Content Placeholder 5">
            <a:extLst>
              <a:ext uri="{FF2B5EF4-FFF2-40B4-BE49-F238E27FC236}">
                <a16:creationId xmlns:a16="http://schemas.microsoft.com/office/drawing/2014/main" id="{A791C3B2-5E83-6F8B-CBCF-B4DE160E27D4}"/>
              </a:ext>
            </a:extLst>
          </p:cNvPr>
          <p:cNvSpPr>
            <a:spLocks noGrp="1"/>
          </p:cNvSpPr>
          <p:nvPr>
            <p:ph idx="1"/>
          </p:nvPr>
        </p:nvSpPr>
        <p:spPr>
          <a:xfrm>
            <a:off x="380010" y="1481447"/>
            <a:ext cx="8383980" cy="4882266"/>
          </a:xfrm>
        </p:spPr>
        <p:txBody>
          <a:bodyPr>
            <a:normAutofit fontScale="77500" lnSpcReduction="20000"/>
          </a:bodyPr>
          <a:lstStyle/>
          <a:p>
            <a:r>
              <a:rPr lang="en-US" i="1" dirty="0"/>
              <a:t>Training</a:t>
            </a:r>
            <a:r>
              <a:rPr lang="en-US" dirty="0"/>
              <a:t> a neural network involves adjusting internal values called </a:t>
            </a:r>
            <a:r>
              <a:rPr lang="en-US" b="1" dirty="0"/>
              <a:t>weights</a:t>
            </a:r>
            <a:r>
              <a:rPr lang="en-US" dirty="0"/>
              <a:t> so the network’s predictions get closer to the correct answer over time</a:t>
            </a:r>
          </a:p>
          <a:p>
            <a:r>
              <a:rPr lang="en-US" dirty="0"/>
              <a:t>The adjustment of weights is done in a process called </a:t>
            </a:r>
            <a:r>
              <a:rPr lang="en-US" b="1" dirty="0"/>
              <a:t>backpropagation</a:t>
            </a:r>
            <a:r>
              <a:rPr lang="en-US" dirty="0"/>
              <a:t>.</a:t>
            </a:r>
          </a:p>
          <a:p>
            <a:pPr lvl="1"/>
            <a:r>
              <a:rPr lang="en-US" dirty="0"/>
              <a:t>Backpropagation: network compares its prediction to the correct answer, calculates how wrong it was, and works backward through the layers, adjusting weights to reduce that error.</a:t>
            </a:r>
          </a:p>
          <a:p>
            <a:r>
              <a:rPr lang="en-US" dirty="0"/>
              <a:t>Why does deep learning matter?</a:t>
            </a:r>
          </a:p>
          <a:p>
            <a:r>
              <a:rPr lang="en-US" dirty="0"/>
              <a:t>It can automatically detect complex, layered patterns in raw unstructured data (images, audio, text), that would be difficult to hand-engineer features for using traditional ML</a:t>
            </a:r>
          </a:p>
          <a:p>
            <a:r>
              <a:rPr lang="en-US" dirty="0"/>
              <a:t>Deep learning generally requires significantly more data and computing power than traditional ML techniques</a:t>
            </a:r>
          </a:p>
          <a:p>
            <a:r>
              <a:rPr lang="en-US" dirty="0"/>
              <a:t>Common real-world applications: image recognition, speech-to-text, self-driving car perception systems, generative ai.</a:t>
            </a:r>
          </a:p>
        </p:txBody>
      </p:sp>
      <p:sp>
        <p:nvSpPr>
          <p:cNvPr id="5" name="Title 4">
            <a:extLst>
              <a:ext uri="{FF2B5EF4-FFF2-40B4-BE49-F238E27FC236}">
                <a16:creationId xmlns:a16="http://schemas.microsoft.com/office/drawing/2014/main" id="{3DB1B8F0-22BF-2087-7FB2-D8A92F4B24A0}"/>
              </a:ext>
            </a:extLst>
          </p:cNvPr>
          <p:cNvSpPr>
            <a:spLocks noGrp="1"/>
          </p:cNvSpPr>
          <p:nvPr>
            <p:ph type="title"/>
          </p:nvPr>
        </p:nvSpPr>
        <p:spPr/>
        <p:txBody>
          <a:bodyPr/>
          <a:lstStyle/>
          <a:p>
            <a:r>
              <a:rPr lang="en-US" dirty="0"/>
              <a:t>Deep Learning</a:t>
            </a:r>
          </a:p>
        </p:txBody>
      </p:sp>
    </p:spTree>
    <p:extLst>
      <p:ext uri="{BB962C8B-B14F-4D97-AF65-F5344CB8AC3E}">
        <p14:creationId xmlns:p14="http://schemas.microsoft.com/office/powerpoint/2010/main" val="3892206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F52B3-BA8F-F303-2EE7-E55F69F1C6F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11A794-2693-F6E0-D0AA-1A36CE53F9B4}"/>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20</a:t>
            </a:fld>
            <a:endParaRPr lang="en-US"/>
          </a:p>
        </p:txBody>
      </p:sp>
      <p:sp>
        <p:nvSpPr>
          <p:cNvPr id="4" name="Google Shape;212;p15">
            <a:extLst>
              <a:ext uri="{FF2B5EF4-FFF2-40B4-BE49-F238E27FC236}">
                <a16:creationId xmlns:a16="http://schemas.microsoft.com/office/drawing/2014/main" id="{BA32DA72-84C1-5598-F1E6-19978E4309B0}"/>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Introduction to Generative AI</a:t>
            </a:r>
          </a:p>
        </p:txBody>
      </p:sp>
      <p:pic>
        <p:nvPicPr>
          <p:cNvPr id="6" name="Picture 5">
            <a:extLst>
              <a:ext uri="{FF2B5EF4-FFF2-40B4-BE49-F238E27FC236}">
                <a16:creationId xmlns:a16="http://schemas.microsoft.com/office/drawing/2014/main" id="{E5F421A1-1FD6-DD1E-A461-B7ECBF43B00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013007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3DC51-097D-E3EF-A51F-04752BBC3BD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F9BB63-CCB2-1198-19F6-11FB7AF9F37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
        <p:nvSpPr>
          <p:cNvPr id="6" name="Content Placeholder 5">
            <a:extLst>
              <a:ext uri="{FF2B5EF4-FFF2-40B4-BE49-F238E27FC236}">
                <a16:creationId xmlns:a16="http://schemas.microsoft.com/office/drawing/2014/main" id="{17A999D8-2A37-9573-F8F3-1C042BDBB0CA}"/>
              </a:ext>
            </a:extLst>
          </p:cNvPr>
          <p:cNvSpPr>
            <a:spLocks noGrp="1"/>
          </p:cNvSpPr>
          <p:nvPr>
            <p:ph idx="1"/>
          </p:nvPr>
        </p:nvSpPr>
        <p:spPr>
          <a:xfrm>
            <a:off x="380010" y="1481446"/>
            <a:ext cx="8383980" cy="4882266"/>
          </a:xfrm>
        </p:spPr>
        <p:txBody>
          <a:bodyPr>
            <a:normAutofit fontScale="70000" lnSpcReduction="20000"/>
          </a:bodyPr>
          <a:lstStyle/>
          <a:p>
            <a:r>
              <a:rPr lang="en-US" b="1" dirty="0"/>
              <a:t>Generative AI</a:t>
            </a:r>
            <a:r>
              <a:rPr lang="en-US" dirty="0"/>
              <a:t> (Gen AI) is a subset of deep learning focused on </a:t>
            </a:r>
            <a:r>
              <a:rPr lang="en-US" i="1" dirty="0"/>
              <a:t>creating new content</a:t>
            </a:r>
            <a:r>
              <a:rPr lang="en-US" dirty="0"/>
              <a:t> (text, images, audio, code), rather than classifying or predicting from existing data.</a:t>
            </a:r>
          </a:p>
          <a:p>
            <a:pPr lvl="1"/>
            <a:r>
              <a:rPr lang="en-US" dirty="0"/>
              <a:t>Contrast this with ML/DL, which are both typically used to classify, predict or detect</a:t>
            </a:r>
          </a:p>
          <a:p>
            <a:r>
              <a:rPr lang="en-US" dirty="0"/>
              <a:t>Most modern generative ai is powered by a deep learning architecture called the </a:t>
            </a:r>
            <a:r>
              <a:rPr lang="en-US" b="1" i="1" dirty="0"/>
              <a:t>transformer</a:t>
            </a:r>
            <a:r>
              <a:rPr lang="en-US" dirty="0"/>
              <a:t>, which is good at understanding relationships between elements in a sequence (words in a sentence, patches in an image, tokens in code)</a:t>
            </a:r>
          </a:p>
          <a:p>
            <a:r>
              <a:rPr lang="en-US" dirty="0"/>
              <a:t>GenAI utilizes deep learning, neural networks, and machine learning techniques to enable computers to produce content that </a:t>
            </a:r>
            <a:r>
              <a:rPr lang="en-US" b="1" i="1" dirty="0"/>
              <a:t>closely resembles</a:t>
            </a:r>
            <a:r>
              <a:rPr lang="en-US" dirty="0"/>
              <a:t> human-created output autonomously.</a:t>
            </a:r>
          </a:p>
          <a:p>
            <a:r>
              <a:rPr lang="en-US" dirty="0"/>
              <a:t>These algorithms learn from patterns, trends and relationships within the training data to generate coherent and meaningful content.</a:t>
            </a:r>
          </a:p>
          <a:p>
            <a:r>
              <a:rPr lang="en-US" dirty="0"/>
              <a:t>The models can generate new text, images, or other forms of media by predicting and filling in missing or next possible pieces of information.</a:t>
            </a:r>
          </a:p>
        </p:txBody>
      </p:sp>
      <p:sp>
        <p:nvSpPr>
          <p:cNvPr id="5" name="Title 4">
            <a:extLst>
              <a:ext uri="{FF2B5EF4-FFF2-40B4-BE49-F238E27FC236}">
                <a16:creationId xmlns:a16="http://schemas.microsoft.com/office/drawing/2014/main" id="{8C7DD10F-029F-A13D-2004-551729CEACB5}"/>
              </a:ext>
            </a:extLst>
          </p:cNvPr>
          <p:cNvSpPr>
            <a:spLocks noGrp="1"/>
          </p:cNvSpPr>
          <p:nvPr>
            <p:ph type="title"/>
          </p:nvPr>
        </p:nvSpPr>
        <p:spPr/>
        <p:txBody>
          <a:bodyPr/>
          <a:lstStyle/>
          <a:p>
            <a:r>
              <a:rPr lang="en-US" dirty="0"/>
              <a:t>Intro to Generative AI</a:t>
            </a:r>
          </a:p>
        </p:txBody>
      </p:sp>
    </p:spTree>
    <p:extLst>
      <p:ext uri="{BB962C8B-B14F-4D97-AF65-F5344CB8AC3E}">
        <p14:creationId xmlns:p14="http://schemas.microsoft.com/office/powerpoint/2010/main" val="146476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338AC-F352-5F06-9F26-8D0D5D5D6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86ACD6-EB5A-0550-BF73-CACCA66F548A}"/>
              </a:ext>
            </a:extLst>
          </p:cNvPr>
          <p:cNvSpPr>
            <a:spLocks noGrp="1"/>
          </p:cNvSpPr>
          <p:nvPr>
            <p:ph type="title"/>
          </p:nvPr>
        </p:nvSpPr>
        <p:spPr/>
        <p:txBody>
          <a:bodyPr/>
          <a:lstStyle/>
          <a:p>
            <a:r>
              <a:rPr lang="en-US" dirty="0"/>
              <a:t>How does GenAI work?</a:t>
            </a:r>
          </a:p>
        </p:txBody>
      </p:sp>
      <p:sp>
        <p:nvSpPr>
          <p:cNvPr id="3" name="Content Placeholder 2">
            <a:extLst>
              <a:ext uri="{FF2B5EF4-FFF2-40B4-BE49-F238E27FC236}">
                <a16:creationId xmlns:a16="http://schemas.microsoft.com/office/drawing/2014/main" id="{DD9FB535-554B-8FED-F3B0-3715F6224416}"/>
              </a:ext>
            </a:extLst>
          </p:cNvPr>
          <p:cNvSpPr>
            <a:spLocks noGrp="1"/>
          </p:cNvSpPr>
          <p:nvPr>
            <p:ph idx="1"/>
          </p:nvPr>
        </p:nvSpPr>
        <p:spPr>
          <a:xfrm>
            <a:off x="380010" y="1481446"/>
            <a:ext cx="8383980" cy="4882266"/>
          </a:xfrm>
        </p:spPr>
        <p:txBody>
          <a:bodyPr>
            <a:normAutofit fontScale="85000" lnSpcReduction="20000"/>
          </a:bodyPr>
          <a:lstStyle/>
          <a:p>
            <a:r>
              <a:rPr lang="en-US" dirty="0"/>
              <a:t>Generative AI utilizes advanced algorithms, typically, to generate new content based on given training data.</a:t>
            </a:r>
          </a:p>
          <a:p>
            <a:r>
              <a:rPr lang="en-US" dirty="0"/>
              <a:t>The process involves several key steps: Data Collection, Training, Latent Space Representation, Generation, Iterative Refinement.</a:t>
            </a:r>
          </a:p>
          <a:p>
            <a:pPr lvl="1"/>
            <a:r>
              <a:rPr lang="en-US" dirty="0"/>
              <a:t>It’s important to note that the training process and specific algorithms used can vary depending on the generative AI model employed.</a:t>
            </a:r>
          </a:p>
          <a:p>
            <a:r>
              <a:rPr lang="en-US" b="1" dirty="0"/>
              <a:t>Data Collection</a:t>
            </a:r>
            <a:r>
              <a:rPr lang="en-US" dirty="0"/>
              <a:t>: A large dataset contains examples of the type of content the generative AI model will generate.</a:t>
            </a:r>
          </a:p>
          <a:p>
            <a:r>
              <a:rPr lang="en-US" b="1" dirty="0"/>
              <a:t>Training</a:t>
            </a:r>
            <a:r>
              <a:rPr lang="en-US" dirty="0"/>
              <a:t>: The generative AI model is training on the collected dataset, typically involving deep learning techniques. During training, the model analyzes the patterns, structures, and features of the dataset to learn and understand the underlying characteristics.</a:t>
            </a:r>
          </a:p>
          <a:p>
            <a:endParaRPr lang="en-US" dirty="0"/>
          </a:p>
        </p:txBody>
      </p:sp>
      <p:sp>
        <p:nvSpPr>
          <p:cNvPr id="4" name="Slide Number Placeholder 3">
            <a:extLst>
              <a:ext uri="{FF2B5EF4-FFF2-40B4-BE49-F238E27FC236}">
                <a16:creationId xmlns:a16="http://schemas.microsoft.com/office/drawing/2014/main" id="{3887623C-A64C-0BD5-A9CF-A4CFF577FB59}"/>
              </a:ext>
            </a:extLst>
          </p:cNvPr>
          <p:cNvSpPr>
            <a:spLocks noGrp="1"/>
          </p:cNvSpPr>
          <p:nvPr>
            <p:ph type="sldNum" sz="quarter" idx="12"/>
          </p:nvPr>
        </p:nvSpPr>
        <p:spPr/>
        <p:txBody>
          <a:bodyPr/>
          <a:lstStyle/>
          <a:p>
            <a:fld id="{F6728BC2-ACA3-447C-A909-F3F49211C066}" type="slidenum">
              <a:rPr lang="en-US" smtClean="0"/>
              <a:pPr/>
              <a:t>22</a:t>
            </a:fld>
            <a:endParaRPr lang="en-US" dirty="0"/>
          </a:p>
        </p:txBody>
      </p:sp>
    </p:spTree>
    <p:extLst>
      <p:ext uri="{BB962C8B-B14F-4D97-AF65-F5344CB8AC3E}">
        <p14:creationId xmlns:p14="http://schemas.microsoft.com/office/powerpoint/2010/main" val="207143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5290A-744A-DBC5-87F0-3C41B1083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4832C-F28C-592F-0BFB-D80ABA774C46}"/>
              </a:ext>
            </a:extLst>
          </p:cNvPr>
          <p:cNvSpPr>
            <a:spLocks noGrp="1"/>
          </p:cNvSpPr>
          <p:nvPr>
            <p:ph type="title"/>
          </p:nvPr>
        </p:nvSpPr>
        <p:spPr/>
        <p:txBody>
          <a:bodyPr/>
          <a:lstStyle/>
          <a:p>
            <a:r>
              <a:rPr lang="en-US" dirty="0"/>
              <a:t>How does GenAI work?</a:t>
            </a:r>
          </a:p>
        </p:txBody>
      </p:sp>
      <p:sp>
        <p:nvSpPr>
          <p:cNvPr id="3" name="Content Placeholder 2">
            <a:extLst>
              <a:ext uri="{FF2B5EF4-FFF2-40B4-BE49-F238E27FC236}">
                <a16:creationId xmlns:a16="http://schemas.microsoft.com/office/drawing/2014/main" id="{3FEE8917-EE46-9B54-604C-04F62273F13D}"/>
              </a:ext>
            </a:extLst>
          </p:cNvPr>
          <p:cNvSpPr>
            <a:spLocks noGrp="1"/>
          </p:cNvSpPr>
          <p:nvPr>
            <p:ph idx="1"/>
          </p:nvPr>
        </p:nvSpPr>
        <p:spPr>
          <a:xfrm>
            <a:off x="380010" y="1481445"/>
            <a:ext cx="8383980" cy="5247391"/>
          </a:xfrm>
        </p:spPr>
        <p:txBody>
          <a:bodyPr>
            <a:normAutofit fontScale="85000" lnSpcReduction="20000"/>
          </a:bodyPr>
          <a:lstStyle/>
          <a:p>
            <a:r>
              <a:rPr lang="en-US" b="1" dirty="0"/>
              <a:t>Latent Space Representation</a:t>
            </a:r>
            <a:r>
              <a:rPr lang="en-US" dirty="0"/>
              <a:t>: The trained generative AI model creates a latent space representation  (LSR), which is a mathematical representation of the patterns and features it has learned from the training data. This latent space acts as a compressed, abstract representation of the dataset.</a:t>
            </a:r>
          </a:p>
          <a:p>
            <a:r>
              <a:rPr lang="en-US" b="1" dirty="0"/>
              <a:t>Generation</a:t>
            </a:r>
            <a:r>
              <a:rPr lang="en-US" dirty="0"/>
              <a:t>: Using the learned LSR, the Gen AI model can generate new content by sampling points in the latent space and decoding them back into the original content format.</a:t>
            </a:r>
          </a:p>
          <a:p>
            <a:r>
              <a:rPr lang="en-US" b="1" dirty="0"/>
              <a:t>Iterative Refinement</a:t>
            </a:r>
            <a:r>
              <a:rPr lang="en-US" dirty="0"/>
              <a:t>: Generative AI models are often trained through an iterative process:</a:t>
            </a:r>
          </a:p>
          <a:p>
            <a:pPr lvl="1"/>
            <a:r>
              <a:rPr lang="en-US" dirty="0"/>
              <a:t>Training</a:t>
            </a:r>
          </a:p>
          <a:p>
            <a:pPr lvl="1"/>
            <a:r>
              <a:rPr lang="en-US" dirty="0"/>
              <a:t>Evaluate the generated output</a:t>
            </a:r>
          </a:p>
          <a:p>
            <a:pPr lvl="1"/>
            <a:r>
              <a:rPr lang="en-US" dirty="0"/>
              <a:t>Adjust the model’s parameters to improve the quality and realism of the generated content.</a:t>
            </a:r>
          </a:p>
          <a:p>
            <a:endParaRPr lang="en-US" dirty="0"/>
          </a:p>
          <a:p>
            <a:endParaRPr lang="en-US" dirty="0"/>
          </a:p>
        </p:txBody>
      </p:sp>
      <p:sp>
        <p:nvSpPr>
          <p:cNvPr id="4" name="Slide Number Placeholder 3">
            <a:extLst>
              <a:ext uri="{FF2B5EF4-FFF2-40B4-BE49-F238E27FC236}">
                <a16:creationId xmlns:a16="http://schemas.microsoft.com/office/drawing/2014/main" id="{E66401EC-FEEE-597F-F6F0-1C594C2EE2F9}"/>
              </a:ext>
            </a:extLst>
          </p:cNvPr>
          <p:cNvSpPr>
            <a:spLocks noGrp="1"/>
          </p:cNvSpPr>
          <p:nvPr>
            <p:ph type="sldNum" sz="quarter" idx="12"/>
          </p:nvPr>
        </p:nvSpPr>
        <p:spPr/>
        <p:txBody>
          <a:bodyPr/>
          <a:lstStyle/>
          <a:p>
            <a:fld id="{F6728BC2-ACA3-447C-A909-F3F49211C066}" type="slidenum">
              <a:rPr lang="en-US" smtClean="0"/>
              <a:pPr/>
              <a:t>23</a:t>
            </a:fld>
            <a:endParaRPr lang="en-US" dirty="0"/>
          </a:p>
        </p:txBody>
      </p:sp>
    </p:spTree>
    <p:extLst>
      <p:ext uri="{BB962C8B-B14F-4D97-AF65-F5344CB8AC3E}">
        <p14:creationId xmlns:p14="http://schemas.microsoft.com/office/powerpoint/2010/main" val="3021290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20906-6974-EEE8-25FE-88338CDCF1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8119AE-30E6-6259-18BC-EEFCE36475F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
        <p:nvSpPr>
          <p:cNvPr id="6" name="Content Placeholder 5">
            <a:extLst>
              <a:ext uri="{FF2B5EF4-FFF2-40B4-BE49-F238E27FC236}">
                <a16:creationId xmlns:a16="http://schemas.microsoft.com/office/drawing/2014/main" id="{7AC97AFE-5EAE-58CC-803F-6FA26B18A32A}"/>
              </a:ext>
            </a:extLst>
          </p:cNvPr>
          <p:cNvSpPr>
            <a:spLocks noGrp="1"/>
          </p:cNvSpPr>
          <p:nvPr>
            <p:ph idx="1"/>
          </p:nvPr>
        </p:nvSpPr>
        <p:spPr>
          <a:xfrm>
            <a:off x="380010" y="1481446"/>
            <a:ext cx="8383980" cy="4882266"/>
          </a:xfrm>
        </p:spPr>
        <p:txBody>
          <a:bodyPr>
            <a:normAutofit/>
          </a:bodyPr>
          <a:lstStyle/>
          <a:p>
            <a:r>
              <a:rPr lang="en-US" dirty="0"/>
              <a:t>Large Language Models (LLMs) are a type of generative AI trained on massive amounts of text, allowing them to generate human-like text, answer questions, summarize content and write code.</a:t>
            </a:r>
          </a:p>
          <a:p>
            <a:r>
              <a:rPr lang="en-US" dirty="0"/>
              <a:t>Generative AI input is known as a </a:t>
            </a:r>
            <a:r>
              <a:rPr lang="en-US" b="1" i="1" dirty="0"/>
              <a:t>prompt</a:t>
            </a:r>
            <a:r>
              <a:rPr lang="en-US" dirty="0"/>
              <a:t>. </a:t>
            </a:r>
          </a:p>
          <a:p>
            <a:r>
              <a:rPr lang="en-US" dirty="0"/>
              <a:t>Prompts can include text, images or other instructions given to a generative AI model to produce an output.</a:t>
            </a:r>
            <a:endParaRPr lang="en-US" b="1" i="1" dirty="0"/>
          </a:p>
        </p:txBody>
      </p:sp>
      <p:sp>
        <p:nvSpPr>
          <p:cNvPr id="5" name="Title 4">
            <a:extLst>
              <a:ext uri="{FF2B5EF4-FFF2-40B4-BE49-F238E27FC236}">
                <a16:creationId xmlns:a16="http://schemas.microsoft.com/office/drawing/2014/main" id="{EF64A94F-0B7F-7ED4-66F1-9F176C46E189}"/>
              </a:ext>
            </a:extLst>
          </p:cNvPr>
          <p:cNvSpPr>
            <a:spLocks noGrp="1"/>
          </p:cNvSpPr>
          <p:nvPr>
            <p:ph type="title"/>
          </p:nvPr>
        </p:nvSpPr>
        <p:spPr/>
        <p:txBody>
          <a:bodyPr/>
          <a:lstStyle/>
          <a:p>
            <a:r>
              <a:rPr lang="en-US" dirty="0"/>
              <a:t>Intro to Generative AI</a:t>
            </a:r>
          </a:p>
        </p:txBody>
      </p:sp>
    </p:spTree>
    <p:extLst>
      <p:ext uri="{BB962C8B-B14F-4D97-AF65-F5344CB8AC3E}">
        <p14:creationId xmlns:p14="http://schemas.microsoft.com/office/powerpoint/2010/main" val="2120294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DD69F-E677-B817-7F48-DBF0C04F6E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DC8F29-5027-D21E-601B-2F1CC2089CA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
        <p:nvSpPr>
          <p:cNvPr id="6" name="Content Placeholder 5">
            <a:extLst>
              <a:ext uri="{FF2B5EF4-FFF2-40B4-BE49-F238E27FC236}">
                <a16:creationId xmlns:a16="http://schemas.microsoft.com/office/drawing/2014/main" id="{673ADC06-D453-2D6F-7291-B51720B4E712}"/>
              </a:ext>
            </a:extLst>
          </p:cNvPr>
          <p:cNvSpPr>
            <a:spLocks noGrp="1"/>
          </p:cNvSpPr>
          <p:nvPr>
            <p:ph idx="1"/>
          </p:nvPr>
        </p:nvSpPr>
        <p:spPr>
          <a:xfrm>
            <a:off x="380010" y="1481446"/>
            <a:ext cx="8383980" cy="4882266"/>
          </a:xfrm>
        </p:spPr>
        <p:txBody>
          <a:bodyPr>
            <a:normAutofit fontScale="85000" lnSpcReduction="20000"/>
          </a:bodyPr>
          <a:lstStyle/>
          <a:p>
            <a:r>
              <a:rPr lang="en-US" dirty="0"/>
              <a:t>GenAI spans multiple content type, each with its own specialized model types:</a:t>
            </a:r>
          </a:p>
          <a:p>
            <a:pPr lvl="1"/>
            <a:r>
              <a:rPr lang="en-US" i="1" dirty="0"/>
              <a:t>Text Generation</a:t>
            </a:r>
            <a:r>
              <a:rPr lang="en-US" dirty="0"/>
              <a:t>: LLMs like Claude, ChatGPT</a:t>
            </a:r>
          </a:p>
          <a:p>
            <a:pPr lvl="1"/>
            <a:r>
              <a:rPr lang="en-US" i="1" dirty="0"/>
              <a:t>Image Generation</a:t>
            </a:r>
            <a:r>
              <a:rPr lang="en-US" dirty="0"/>
              <a:t>: Diffusion models like Midjourney, DALL-E</a:t>
            </a:r>
          </a:p>
          <a:p>
            <a:pPr lvl="1"/>
            <a:r>
              <a:rPr lang="en-US" i="1" dirty="0"/>
              <a:t>Code Generation</a:t>
            </a:r>
            <a:r>
              <a:rPr lang="en-US" dirty="0"/>
              <a:t>: GitHub Copilot, Claude Code</a:t>
            </a:r>
          </a:p>
          <a:p>
            <a:pPr lvl="1"/>
            <a:r>
              <a:rPr lang="en-US" i="1" dirty="0"/>
              <a:t>Audio/Speech Generation</a:t>
            </a:r>
            <a:r>
              <a:rPr lang="en-US" dirty="0"/>
              <a:t>: voice cloning and music generation tools</a:t>
            </a:r>
          </a:p>
          <a:p>
            <a:r>
              <a:rPr lang="en-US" b="1" i="1" dirty="0"/>
              <a:t>Important Note</a:t>
            </a:r>
            <a:r>
              <a:rPr lang="en-US" dirty="0"/>
              <a:t>: Generative AI models can produce confident-sounding but incorrect output, often called </a:t>
            </a:r>
            <a:r>
              <a:rPr lang="en-US" b="1" i="1" dirty="0"/>
              <a:t>hallucinations</a:t>
            </a:r>
            <a:r>
              <a:rPr lang="en-US" dirty="0"/>
              <a:t>.</a:t>
            </a:r>
          </a:p>
          <a:p>
            <a:r>
              <a:rPr lang="en-US" dirty="0"/>
              <a:t>Output should always be scrutinized and reviewed, especially in professional or production contexts</a:t>
            </a:r>
          </a:p>
          <a:p>
            <a:r>
              <a:rPr lang="en-US" dirty="0"/>
              <a:t>Generative AI tools are increasingly part of the day-to-day developer workflow. Understanding how they work, and their limitations is crucial for your job.</a:t>
            </a:r>
          </a:p>
          <a:p>
            <a:endParaRPr lang="en-US" b="1" i="1" dirty="0"/>
          </a:p>
        </p:txBody>
      </p:sp>
      <p:sp>
        <p:nvSpPr>
          <p:cNvPr id="5" name="Title 4">
            <a:extLst>
              <a:ext uri="{FF2B5EF4-FFF2-40B4-BE49-F238E27FC236}">
                <a16:creationId xmlns:a16="http://schemas.microsoft.com/office/drawing/2014/main" id="{760FF987-ED01-02D7-97B6-5CC42F1FF30E}"/>
              </a:ext>
            </a:extLst>
          </p:cNvPr>
          <p:cNvSpPr>
            <a:spLocks noGrp="1"/>
          </p:cNvSpPr>
          <p:nvPr>
            <p:ph type="title"/>
          </p:nvPr>
        </p:nvSpPr>
        <p:spPr/>
        <p:txBody>
          <a:bodyPr/>
          <a:lstStyle/>
          <a:p>
            <a:r>
              <a:rPr lang="en-US" dirty="0"/>
              <a:t>Intro to Generative AI</a:t>
            </a:r>
          </a:p>
        </p:txBody>
      </p:sp>
    </p:spTree>
    <p:extLst>
      <p:ext uri="{BB962C8B-B14F-4D97-AF65-F5344CB8AC3E}">
        <p14:creationId xmlns:p14="http://schemas.microsoft.com/office/powerpoint/2010/main" val="354213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7D16F-7B03-E71F-8577-D22811997C0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C5BF17-6015-B504-3649-71612FD89D1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26</a:t>
            </a:fld>
            <a:endParaRPr lang="en-US"/>
          </a:p>
        </p:txBody>
      </p:sp>
      <p:sp>
        <p:nvSpPr>
          <p:cNvPr id="4" name="Google Shape;212;p15">
            <a:extLst>
              <a:ext uri="{FF2B5EF4-FFF2-40B4-BE49-F238E27FC236}">
                <a16:creationId xmlns:a16="http://schemas.microsoft.com/office/drawing/2014/main" id="{56034A11-38A1-D609-73AA-02D8A705336F}"/>
              </a:ext>
            </a:extLst>
          </p:cNvPr>
          <p:cNvSpPr txBox="1">
            <a:spLocks/>
          </p:cNvSpPr>
          <p:nvPr/>
        </p:nvSpPr>
        <p:spPr>
          <a:xfrm>
            <a:off x="157163"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Content Generation</a:t>
            </a:r>
          </a:p>
        </p:txBody>
      </p:sp>
      <p:pic>
        <p:nvPicPr>
          <p:cNvPr id="6" name="Picture 5">
            <a:extLst>
              <a:ext uri="{FF2B5EF4-FFF2-40B4-BE49-F238E27FC236}">
                <a16:creationId xmlns:a16="http://schemas.microsoft.com/office/drawing/2014/main" id="{6F215CED-3BBE-D576-33E2-0F67A4D199DE}"/>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3015361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75E39A-B519-56B1-C317-F0B6E901D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ADCC4-5D32-AFE9-8EF0-D5E01089A5F9}"/>
              </a:ext>
            </a:extLst>
          </p:cNvPr>
          <p:cNvSpPr>
            <a:spLocks noGrp="1"/>
          </p:cNvSpPr>
          <p:nvPr>
            <p:ph type="title"/>
          </p:nvPr>
        </p:nvSpPr>
        <p:spPr/>
        <p:txBody>
          <a:bodyPr/>
          <a:lstStyle/>
          <a:p>
            <a:r>
              <a:rPr lang="en-US" dirty="0"/>
              <a:t>Gen AI in Text Generation</a:t>
            </a:r>
          </a:p>
        </p:txBody>
      </p:sp>
      <p:sp>
        <p:nvSpPr>
          <p:cNvPr id="3" name="Content Placeholder 2">
            <a:extLst>
              <a:ext uri="{FF2B5EF4-FFF2-40B4-BE49-F238E27FC236}">
                <a16:creationId xmlns:a16="http://schemas.microsoft.com/office/drawing/2014/main" id="{45C2EE71-DA2E-5D86-DB7F-3598C9C6304D}"/>
              </a:ext>
            </a:extLst>
          </p:cNvPr>
          <p:cNvSpPr>
            <a:spLocks noGrp="1"/>
          </p:cNvSpPr>
          <p:nvPr>
            <p:ph idx="1"/>
          </p:nvPr>
        </p:nvSpPr>
        <p:spPr>
          <a:xfrm>
            <a:off x="380010" y="1481446"/>
            <a:ext cx="8383980" cy="4882266"/>
          </a:xfrm>
        </p:spPr>
        <p:txBody>
          <a:bodyPr>
            <a:normAutofit fontScale="85000" lnSpcReduction="20000"/>
          </a:bodyPr>
          <a:lstStyle/>
          <a:p>
            <a:r>
              <a:rPr lang="en-US" dirty="0"/>
              <a:t>Generative AI can generate coherent and contextually relevant text by learning patterns and structures from a large corpus of text data.</a:t>
            </a:r>
          </a:p>
          <a:p>
            <a:r>
              <a:rPr lang="en-US" dirty="0"/>
              <a:t>Models, such as recurrent Neural Networks (RNNs), Transformers, or Language Models are training on textual data to understand the relationships between words and the context in which they are used.</a:t>
            </a:r>
          </a:p>
          <a:p>
            <a:r>
              <a:rPr lang="en-US" dirty="0"/>
              <a:t>By leveraging this learned knowledge, generative AI models can generate new text that follows grammatical rules, maintains coherence, and aligns with the given context or topic.</a:t>
            </a:r>
          </a:p>
          <a:p>
            <a:r>
              <a:rPr lang="en-US" dirty="0"/>
              <a:t>These models capture the statistical patterns of language and use them to generate text that is contextually relevant and appears as if it could have been written by a human</a:t>
            </a:r>
          </a:p>
        </p:txBody>
      </p:sp>
      <p:sp>
        <p:nvSpPr>
          <p:cNvPr id="4" name="Slide Number Placeholder 3">
            <a:extLst>
              <a:ext uri="{FF2B5EF4-FFF2-40B4-BE49-F238E27FC236}">
                <a16:creationId xmlns:a16="http://schemas.microsoft.com/office/drawing/2014/main" id="{06660433-B672-7F2E-8121-EFF1A406EB9A}"/>
              </a:ext>
            </a:extLst>
          </p:cNvPr>
          <p:cNvSpPr>
            <a:spLocks noGrp="1"/>
          </p:cNvSpPr>
          <p:nvPr>
            <p:ph type="sldNum" sz="quarter" idx="12"/>
          </p:nvPr>
        </p:nvSpPr>
        <p:spPr/>
        <p:txBody>
          <a:bodyPr/>
          <a:lstStyle/>
          <a:p>
            <a:fld id="{F6728BC2-ACA3-447C-A909-F3F49211C066}" type="slidenum">
              <a:rPr lang="en-US" smtClean="0"/>
              <a:pPr/>
              <a:t>27</a:t>
            </a:fld>
            <a:endParaRPr lang="en-US" dirty="0"/>
          </a:p>
        </p:txBody>
      </p:sp>
    </p:spTree>
    <p:extLst>
      <p:ext uri="{BB962C8B-B14F-4D97-AF65-F5344CB8AC3E}">
        <p14:creationId xmlns:p14="http://schemas.microsoft.com/office/powerpoint/2010/main" val="2768447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E0FEC-7E87-B8AA-00E7-599C1D6F5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C4525-A32E-645A-2BBA-94724C2FE017}"/>
              </a:ext>
            </a:extLst>
          </p:cNvPr>
          <p:cNvSpPr>
            <a:spLocks noGrp="1"/>
          </p:cNvSpPr>
          <p:nvPr>
            <p:ph type="title"/>
          </p:nvPr>
        </p:nvSpPr>
        <p:spPr/>
        <p:txBody>
          <a:bodyPr/>
          <a:lstStyle/>
          <a:p>
            <a:r>
              <a:rPr lang="en-US" dirty="0"/>
              <a:t>Examples of Text Generation Applications</a:t>
            </a:r>
          </a:p>
        </p:txBody>
      </p:sp>
      <p:sp>
        <p:nvSpPr>
          <p:cNvPr id="3" name="Content Placeholder 2">
            <a:extLst>
              <a:ext uri="{FF2B5EF4-FFF2-40B4-BE49-F238E27FC236}">
                <a16:creationId xmlns:a16="http://schemas.microsoft.com/office/drawing/2014/main" id="{D417E97E-8015-CE6B-C96E-64FD30684919}"/>
              </a:ext>
            </a:extLst>
          </p:cNvPr>
          <p:cNvSpPr>
            <a:spLocks noGrp="1"/>
          </p:cNvSpPr>
          <p:nvPr>
            <p:ph idx="1"/>
          </p:nvPr>
        </p:nvSpPr>
        <p:spPr>
          <a:xfrm>
            <a:off x="380010" y="1481446"/>
            <a:ext cx="8383980" cy="4882266"/>
          </a:xfrm>
        </p:spPr>
        <p:txBody>
          <a:bodyPr>
            <a:normAutofit/>
          </a:bodyPr>
          <a:lstStyle/>
          <a:p>
            <a:r>
              <a:rPr lang="en-US" dirty="0"/>
              <a:t>Chatbots and Virtual Assistants</a:t>
            </a:r>
          </a:p>
          <a:p>
            <a:r>
              <a:rPr lang="en-US" dirty="0"/>
              <a:t>Content Generation</a:t>
            </a:r>
          </a:p>
          <a:p>
            <a:r>
              <a:rPr lang="en-US" dirty="0"/>
              <a:t>Language Translation</a:t>
            </a:r>
          </a:p>
          <a:p>
            <a:r>
              <a:rPr lang="en-US" dirty="0"/>
              <a:t>Text Summarization</a:t>
            </a:r>
          </a:p>
          <a:p>
            <a:r>
              <a:rPr lang="en-US" dirty="0"/>
              <a:t>Personalized Recommendations and Ads</a:t>
            </a:r>
          </a:p>
          <a:p>
            <a:r>
              <a:rPr lang="en-US" dirty="0"/>
              <a:t>Text-to-Speech Synthesis</a:t>
            </a:r>
          </a:p>
        </p:txBody>
      </p:sp>
      <p:sp>
        <p:nvSpPr>
          <p:cNvPr id="4" name="Slide Number Placeholder 3">
            <a:extLst>
              <a:ext uri="{FF2B5EF4-FFF2-40B4-BE49-F238E27FC236}">
                <a16:creationId xmlns:a16="http://schemas.microsoft.com/office/drawing/2014/main" id="{C85F9F97-F40F-EA76-CAE4-1ABB72738FC1}"/>
              </a:ext>
            </a:extLst>
          </p:cNvPr>
          <p:cNvSpPr>
            <a:spLocks noGrp="1"/>
          </p:cNvSpPr>
          <p:nvPr>
            <p:ph type="sldNum" sz="quarter" idx="12"/>
          </p:nvPr>
        </p:nvSpPr>
        <p:spPr/>
        <p:txBody>
          <a:bodyPr/>
          <a:lstStyle/>
          <a:p>
            <a:fld id="{F6728BC2-ACA3-447C-A909-F3F49211C066}" type="slidenum">
              <a:rPr lang="en-US" smtClean="0"/>
              <a:pPr/>
              <a:t>28</a:t>
            </a:fld>
            <a:endParaRPr lang="en-US" dirty="0"/>
          </a:p>
        </p:txBody>
      </p:sp>
    </p:spTree>
    <p:extLst>
      <p:ext uri="{BB962C8B-B14F-4D97-AF65-F5344CB8AC3E}">
        <p14:creationId xmlns:p14="http://schemas.microsoft.com/office/powerpoint/2010/main" val="529530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6BEB8-CBE4-C336-4883-DE1D60B42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F09E3-A64C-A66D-1A40-80A93EAB865D}"/>
              </a:ext>
            </a:extLst>
          </p:cNvPr>
          <p:cNvSpPr>
            <a:spLocks noGrp="1"/>
          </p:cNvSpPr>
          <p:nvPr>
            <p:ph type="title"/>
          </p:nvPr>
        </p:nvSpPr>
        <p:spPr/>
        <p:txBody>
          <a:bodyPr/>
          <a:lstStyle/>
          <a:p>
            <a:r>
              <a:rPr lang="en-US" dirty="0"/>
              <a:t>Generative AI in Image Generation</a:t>
            </a:r>
          </a:p>
        </p:txBody>
      </p:sp>
      <p:sp>
        <p:nvSpPr>
          <p:cNvPr id="3" name="Content Placeholder 2">
            <a:extLst>
              <a:ext uri="{FF2B5EF4-FFF2-40B4-BE49-F238E27FC236}">
                <a16:creationId xmlns:a16="http://schemas.microsoft.com/office/drawing/2014/main" id="{21AAA464-B7E5-F274-3842-DC9F0B06C2B6}"/>
              </a:ext>
            </a:extLst>
          </p:cNvPr>
          <p:cNvSpPr>
            <a:spLocks noGrp="1"/>
          </p:cNvSpPr>
          <p:nvPr>
            <p:ph idx="1"/>
          </p:nvPr>
        </p:nvSpPr>
        <p:spPr>
          <a:xfrm>
            <a:off x="380010" y="1481446"/>
            <a:ext cx="8383980" cy="4882266"/>
          </a:xfrm>
        </p:spPr>
        <p:txBody>
          <a:bodyPr>
            <a:normAutofit fontScale="70000" lnSpcReduction="20000"/>
          </a:bodyPr>
          <a:lstStyle/>
          <a:p>
            <a:r>
              <a:rPr lang="en-US" dirty="0"/>
              <a:t>Generative AI is used to generate realistic images by training models on large datasets of real images.</a:t>
            </a:r>
          </a:p>
          <a:p>
            <a:r>
              <a:rPr lang="en-US" dirty="0"/>
              <a:t>These models, such as Generative Adversarial Networks (GANs) or Variational Autoencoders (VAEs), learn the patterns and structures present in the training data.</a:t>
            </a:r>
          </a:p>
          <a:p>
            <a:r>
              <a:rPr lang="en-US" dirty="0"/>
              <a:t>They then utilize this learned knowledge to generate new images that resemble the original dataset</a:t>
            </a:r>
          </a:p>
          <a:p>
            <a:r>
              <a:rPr lang="en-US" dirty="0"/>
              <a:t>GANs consist of a generator that produces synthetic (generated) images and a discriminator that distinguishes between real and generated images.</a:t>
            </a:r>
          </a:p>
          <a:p>
            <a:pPr lvl="1"/>
            <a:r>
              <a:rPr lang="en-US" dirty="0"/>
              <a:t>Through an adversarial training process, the generator improves its ability to create realistic images that fool the discriminator</a:t>
            </a:r>
          </a:p>
          <a:p>
            <a:r>
              <a:rPr lang="en-US" dirty="0"/>
              <a:t>VAEs learn a compressed representation of the images called the latent space and generate new images by sampling points in this space and decoding them.</a:t>
            </a:r>
          </a:p>
          <a:p>
            <a:r>
              <a:rPr lang="en-US" dirty="0"/>
              <a:t>These generative AI techniques have revolutionized image synthesis, enabling applications in computer graphics, art, design, and beyond.</a:t>
            </a:r>
          </a:p>
          <a:p>
            <a:endParaRPr lang="en-US" dirty="0"/>
          </a:p>
        </p:txBody>
      </p:sp>
      <p:sp>
        <p:nvSpPr>
          <p:cNvPr id="4" name="Slide Number Placeholder 3">
            <a:extLst>
              <a:ext uri="{FF2B5EF4-FFF2-40B4-BE49-F238E27FC236}">
                <a16:creationId xmlns:a16="http://schemas.microsoft.com/office/drawing/2014/main" id="{9DDF7F15-E13F-4824-0AEC-4B4A125B5065}"/>
              </a:ext>
            </a:extLst>
          </p:cNvPr>
          <p:cNvSpPr>
            <a:spLocks noGrp="1"/>
          </p:cNvSpPr>
          <p:nvPr>
            <p:ph type="sldNum" sz="quarter" idx="12"/>
          </p:nvPr>
        </p:nvSpPr>
        <p:spPr/>
        <p:txBody>
          <a:bodyPr/>
          <a:lstStyle/>
          <a:p>
            <a:fld id="{F6728BC2-ACA3-447C-A909-F3F49211C066}" type="slidenum">
              <a:rPr lang="en-US" smtClean="0"/>
              <a:pPr/>
              <a:t>29</a:t>
            </a:fld>
            <a:endParaRPr lang="en-US" dirty="0"/>
          </a:p>
        </p:txBody>
      </p:sp>
    </p:spTree>
    <p:extLst>
      <p:ext uri="{BB962C8B-B14F-4D97-AF65-F5344CB8AC3E}">
        <p14:creationId xmlns:p14="http://schemas.microsoft.com/office/powerpoint/2010/main" val="1701772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CD5A1-D8D8-5971-17A1-DD8810D064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DB383-E0B7-B8B7-395D-62CB4F96AD1B}"/>
              </a:ext>
            </a:extLst>
          </p:cNvPr>
          <p:cNvSpPr>
            <a:spLocks noGrp="1"/>
          </p:cNvSpPr>
          <p:nvPr>
            <p:ph type="title"/>
          </p:nvPr>
        </p:nvSpPr>
        <p:spPr/>
        <p:txBody>
          <a:bodyPr/>
          <a:lstStyle/>
          <a:p>
            <a:r>
              <a:rPr lang="en-US" dirty="0"/>
              <a:t>Examples of Image Generation Applications</a:t>
            </a:r>
          </a:p>
        </p:txBody>
      </p:sp>
      <p:sp>
        <p:nvSpPr>
          <p:cNvPr id="3" name="Content Placeholder 2">
            <a:extLst>
              <a:ext uri="{FF2B5EF4-FFF2-40B4-BE49-F238E27FC236}">
                <a16:creationId xmlns:a16="http://schemas.microsoft.com/office/drawing/2014/main" id="{99D7690A-7841-1BE6-4FED-FF3A90CC013A}"/>
              </a:ext>
            </a:extLst>
          </p:cNvPr>
          <p:cNvSpPr>
            <a:spLocks noGrp="1"/>
          </p:cNvSpPr>
          <p:nvPr>
            <p:ph idx="1"/>
          </p:nvPr>
        </p:nvSpPr>
        <p:spPr>
          <a:xfrm>
            <a:off x="380010" y="1481446"/>
            <a:ext cx="8383980" cy="4882266"/>
          </a:xfrm>
        </p:spPr>
        <p:txBody>
          <a:bodyPr>
            <a:normAutofit/>
          </a:bodyPr>
          <a:lstStyle/>
          <a:p>
            <a:r>
              <a:rPr lang="en-US" dirty="0"/>
              <a:t>Image-to-Image Translation</a:t>
            </a:r>
          </a:p>
          <a:p>
            <a:r>
              <a:rPr lang="en-US" dirty="0"/>
              <a:t>Face Generation and Editing</a:t>
            </a:r>
          </a:p>
          <a:p>
            <a:r>
              <a:rPr lang="en-US" dirty="0"/>
              <a:t>Photo Realism and Art Generation</a:t>
            </a:r>
          </a:p>
          <a:p>
            <a:r>
              <a:rPr lang="en-US" dirty="0"/>
              <a:t>Style Transfer and Fusion</a:t>
            </a:r>
          </a:p>
        </p:txBody>
      </p:sp>
      <p:sp>
        <p:nvSpPr>
          <p:cNvPr id="4" name="Slide Number Placeholder 3">
            <a:extLst>
              <a:ext uri="{FF2B5EF4-FFF2-40B4-BE49-F238E27FC236}">
                <a16:creationId xmlns:a16="http://schemas.microsoft.com/office/drawing/2014/main" id="{2A8C4793-E898-37AF-9F2E-4879DF260215}"/>
              </a:ext>
            </a:extLst>
          </p:cNvPr>
          <p:cNvSpPr>
            <a:spLocks noGrp="1"/>
          </p:cNvSpPr>
          <p:nvPr>
            <p:ph type="sldNum" sz="quarter" idx="12"/>
          </p:nvPr>
        </p:nvSpPr>
        <p:spPr/>
        <p:txBody>
          <a:bodyPr/>
          <a:lstStyle/>
          <a:p>
            <a:fld id="{F6728BC2-ACA3-447C-A909-F3F49211C066}" type="slidenum">
              <a:rPr lang="en-US" smtClean="0"/>
              <a:pPr/>
              <a:t>30</a:t>
            </a:fld>
            <a:endParaRPr lang="en-US" dirty="0"/>
          </a:p>
        </p:txBody>
      </p:sp>
    </p:spTree>
    <p:extLst>
      <p:ext uri="{BB962C8B-B14F-4D97-AF65-F5344CB8AC3E}">
        <p14:creationId xmlns:p14="http://schemas.microsoft.com/office/powerpoint/2010/main" val="19926102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18500-AB31-B472-057C-35F0E6D80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5BC9A-6C5F-83A0-9A27-181486E696F0}"/>
              </a:ext>
            </a:extLst>
          </p:cNvPr>
          <p:cNvSpPr>
            <a:spLocks noGrp="1"/>
          </p:cNvSpPr>
          <p:nvPr>
            <p:ph type="title"/>
          </p:nvPr>
        </p:nvSpPr>
        <p:spPr/>
        <p:txBody>
          <a:bodyPr/>
          <a:lstStyle/>
          <a:p>
            <a:r>
              <a:rPr lang="en-US" dirty="0"/>
              <a:t>Pros of Generative AI</a:t>
            </a:r>
          </a:p>
        </p:txBody>
      </p:sp>
      <p:sp>
        <p:nvSpPr>
          <p:cNvPr id="3" name="Content Placeholder 2">
            <a:extLst>
              <a:ext uri="{FF2B5EF4-FFF2-40B4-BE49-F238E27FC236}">
                <a16:creationId xmlns:a16="http://schemas.microsoft.com/office/drawing/2014/main" id="{62431328-7311-FACB-C290-7EF53C6D257D}"/>
              </a:ext>
            </a:extLst>
          </p:cNvPr>
          <p:cNvSpPr>
            <a:spLocks noGrp="1"/>
          </p:cNvSpPr>
          <p:nvPr>
            <p:ph idx="1"/>
          </p:nvPr>
        </p:nvSpPr>
        <p:spPr>
          <a:xfrm>
            <a:off x="380010" y="1481446"/>
            <a:ext cx="8383980" cy="4882266"/>
          </a:xfrm>
        </p:spPr>
        <p:txBody>
          <a:bodyPr>
            <a:normAutofit fontScale="77500" lnSpcReduction="20000"/>
          </a:bodyPr>
          <a:lstStyle/>
          <a:p>
            <a:r>
              <a:rPr lang="en-US" b="1" dirty="0"/>
              <a:t>Creativity and Novelty</a:t>
            </a:r>
            <a:r>
              <a:rPr lang="en-US" dirty="0"/>
              <a:t>: GenAI enables the creation of new and unique content, whether it’s images, music or text. It can generate innovative and original outputs that may not have been created otherwise.</a:t>
            </a:r>
          </a:p>
          <a:p>
            <a:r>
              <a:rPr lang="en-US" b="1" dirty="0"/>
              <a:t>Automation and Efficiency</a:t>
            </a:r>
            <a:r>
              <a:rPr lang="en-US" dirty="0"/>
              <a:t>: Generative AI automates the process of content creation, saving time and resources. It can generate large volumes of content quickly and efficiently, assisting in tasks like data augmentation, content generation, and design exploration.</a:t>
            </a:r>
          </a:p>
          <a:p>
            <a:r>
              <a:rPr lang="en-US" b="1" dirty="0"/>
              <a:t>Personalization and Customization</a:t>
            </a:r>
            <a:r>
              <a:rPr lang="en-US" dirty="0"/>
              <a:t>: Generative models can be trained on specific data or preferences, allowing for personalized recommendations, tailored content, and customized user experiences</a:t>
            </a:r>
          </a:p>
          <a:p>
            <a:r>
              <a:rPr lang="en-US" b="1" dirty="0"/>
              <a:t>Exploration and Inspiration</a:t>
            </a:r>
            <a:r>
              <a:rPr lang="en-US" dirty="0"/>
              <a:t>: GenAI can provide inspiration to artists, designers, and writers by generating diverse variations, exploring creative possibilities, and serving as a starting point for further creative exploration.</a:t>
            </a:r>
          </a:p>
        </p:txBody>
      </p:sp>
      <p:sp>
        <p:nvSpPr>
          <p:cNvPr id="4" name="Slide Number Placeholder 3">
            <a:extLst>
              <a:ext uri="{FF2B5EF4-FFF2-40B4-BE49-F238E27FC236}">
                <a16:creationId xmlns:a16="http://schemas.microsoft.com/office/drawing/2014/main" id="{1297EC58-9A5E-BF63-EFA1-8BF884068A2C}"/>
              </a:ext>
            </a:extLst>
          </p:cNvPr>
          <p:cNvSpPr>
            <a:spLocks noGrp="1"/>
          </p:cNvSpPr>
          <p:nvPr>
            <p:ph type="sldNum" sz="quarter" idx="12"/>
          </p:nvPr>
        </p:nvSpPr>
        <p:spPr/>
        <p:txBody>
          <a:bodyPr/>
          <a:lstStyle/>
          <a:p>
            <a:fld id="{F6728BC2-ACA3-447C-A909-F3F49211C066}" type="slidenum">
              <a:rPr lang="en-US" smtClean="0"/>
              <a:pPr/>
              <a:t>31</a:t>
            </a:fld>
            <a:endParaRPr lang="en-US" dirty="0"/>
          </a:p>
        </p:txBody>
      </p:sp>
    </p:spTree>
    <p:extLst>
      <p:ext uri="{BB962C8B-B14F-4D97-AF65-F5344CB8AC3E}">
        <p14:creationId xmlns:p14="http://schemas.microsoft.com/office/powerpoint/2010/main" val="218245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C98AA-2CF2-5B85-172F-85247663B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26D13-B6C1-434F-8DA2-2B953583F2FD}"/>
              </a:ext>
            </a:extLst>
          </p:cNvPr>
          <p:cNvSpPr>
            <a:spLocks noGrp="1"/>
          </p:cNvSpPr>
          <p:nvPr>
            <p:ph type="title"/>
          </p:nvPr>
        </p:nvSpPr>
        <p:spPr/>
        <p:txBody>
          <a:bodyPr/>
          <a:lstStyle/>
          <a:p>
            <a:r>
              <a:rPr lang="en-US" dirty="0"/>
              <a:t>Cons of Generative AI</a:t>
            </a:r>
          </a:p>
        </p:txBody>
      </p:sp>
      <p:sp>
        <p:nvSpPr>
          <p:cNvPr id="3" name="Content Placeholder 2">
            <a:extLst>
              <a:ext uri="{FF2B5EF4-FFF2-40B4-BE49-F238E27FC236}">
                <a16:creationId xmlns:a16="http://schemas.microsoft.com/office/drawing/2014/main" id="{8B154C30-0EBC-0483-0317-6DC2E025959A}"/>
              </a:ext>
            </a:extLst>
          </p:cNvPr>
          <p:cNvSpPr>
            <a:spLocks noGrp="1"/>
          </p:cNvSpPr>
          <p:nvPr>
            <p:ph idx="1"/>
          </p:nvPr>
        </p:nvSpPr>
        <p:spPr>
          <a:xfrm>
            <a:off x="380010" y="1481446"/>
            <a:ext cx="8383980" cy="4882266"/>
          </a:xfrm>
        </p:spPr>
        <p:txBody>
          <a:bodyPr>
            <a:normAutofit fontScale="62500" lnSpcReduction="20000"/>
          </a:bodyPr>
          <a:lstStyle/>
          <a:p>
            <a:r>
              <a:rPr lang="en-US" b="1" dirty="0"/>
              <a:t>Ethical concerns</a:t>
            </a:r>
            <a:r>
              <a:rPr lang="en-US" dirty="0"/>
              <a:t>: GenAI raises ethical concerns, particularly regarding the misuse of synthetic media, deepfakes, and potential infringement of intellectual property rights. It requires careful consideration and responsible usage to avoid malicious or deceptive applications.</a:t>
            </a:r>
          </a:p>
          <a:p>
            <a:r>
              <a:rPr lang="en-US" b="1" dirty="0"/>
              <a:t>Lack of control</a:t>
            </a:r>
            <a:r>
              <a:rPr lang="en-US" dirty="0"/>
              <a:t>: Generative models can produce outputs that are difficult to control or fine-tune to specific requirements. The generated content may not always meet the desired expectations or adhere to specific guidelines.</a:t>
            </a:r>
          </a:p>
          <a:p>
            <a:r>
              <a:rPr lang="en-US" b="1" dirty="0"/>
              <a:t>Dataset Bias and Generalization</a:t>
            </a:r>
            <a:r>
              <a:rPr lang="en-US" dirty="0"/>
              <a:t>: Generative models heavily rely on the training data they are exposed to. If the training data is biased or limited, the generated outputs may inherit those biases or struggle with generalizing to unseen scenarios.</a:t>
            </a:r>
          </a:p>
          <a:p>
            <a:r>
              <a:rPr lang="en-US" b="1" dirty="0"/>
              <a:t>Computational Resources and Complexity</a:t>
            </a:r>
            <a:r>
              <a:rPr lang="en-US" dirty="0"/>
              <a:t>: Training and deploying generative models can be computationally intensive and require significant resources, including high-performance hardware and substantial training times. Implementing and maintaining these models can be complex and resource demanding</a:t>
            </a:r>
          </a:p>
          <a:p>
            <a:r>
              <a:rPr lang="en-US" b="1" dirty="0"/>
              <a:t>Quality and Coherence</a:t>
            </a:r>
            <a:r>
              <a:rPr lang="en-US" dirty="0"/>
              <a:t>: While generative models have made significant progress, they may still struggle wit producing outputs that consistently exhibit high quality, coherence, and contextual relevance. Fine-tuning and careful model selection may be necessary to achieve desired results.</a:t>
            </a:r>
          </a:p>
        </p:txBody>
      </p:sp>
      <p:sp>
        <p:nvSpPr>
          <p:cNvPr id="4" name="Slide Number Placeholder 3">
            <a:extLst>
              <a:ext uri="{FF2B5EF4-FFF2-40B4-BE49-F238E27FC236}">
                <a16:creationId xmlns:a16="http://schemas.microsoft.com/office/drawing/2014/main" id="{F94E15C9-46FD-7E52-2CE6-AFB6066C9A5A}"/>
              </a:ext>
            </a:extLst>
          </p:cNvPr>
          <p:cNvSpPr>
            <a:spLocks noGrp="1"/>
          </p:cNvSpPr>
          <p:nvPr>
            <p:ph type="sldNum" sz="quarter" idx="12"/>
          </p:nvPr>
        </p:nvSpPr>
        <p:spPr/>
        <p:txBody>
          <a:bodyPr/>
          <a:lstStyle/>
          <a:p>
            <a:fld id="{F6728BC2-ACA3-447C-A909-F3F49211C066}" type="slidenum">
              <a:rPr lang="en-US" smtClean="0"/>
              <a:pPr/>
              <a:t>32</a:t>
            </a:fld>
            <a:endParaRPr lang="en-US" dirty="0"/>
          </a:p>
        </p:txBody>
      </p:sp>
    </p:spTree>
    <p:extLst>
      <p:ext uri="{BB962C8B-B14F-4D97-AF65-F5344CB8AC3E}">
        <p14:creationId xmlns:p14="http://schemas.microsoft.com/office/powerpoint/2010/main" val="1262211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A9EDF-382F-EE1C-A7CA-CC9FC3F7BED1}"/>
              </a:ext>
            </a:extLst>
          </p:cNvPr>
          <p:cNvSpPr>
            <a:spLocks noGrp="1"/>
          </p:cNvSpPr>
          <p:nvPr>
            <p:ph type="title"/>
          </p:nvPr>
        </p:nvSpPr>
        <p:spPr/>
        <p:txBody>
          <a:bodyPr/>
          <a:lstStyle/>
          <a:p>
            <a:endParaRPr lang="en-US"/>
          </a:p>
        </p:txBody>
      </p:sp>
      <p:sp>
        <p:nvSpPr>
          <p:cNvPr id="3" name="Slide Number Placeholder 2">
            <a:extLst>
              <a:ext uri="{FF2B5EF4-FFF2-40B4-BE49-F238E27FC236}">
                <a16:creationId xmlns:a16="http://schemas.microsoft.com/office/drawing/2014/main" id="{DF088C61-DF83-CB44-918B-A450204E5FFC}"/>
              </a:ext>
            </a:extLst>
          </p:cNvPr>
          <p:cNvSpPr>
            <a:spLocks noGrp="1"/>
          </p:cNvSpPr>
          <p:nvPr>
            <p:ph type="sldNum" sz="quarter" idx="12"/>
          </p:nvPr>
        </p:nvSpPr>
        <p:spPr/>
        <p:txBody>
          <a:bodyPr/>
          <a:lstStyle/>
          <a:p>
            <a:fld id="{F6728BC2-ACA3-447C-A909-F3F49211C066}" type="slidenum">
              <a:rPr lang="en-US" smtClean="0"/>
              <a:pPr/>
              <a:t>33</a:t>
            </a:fld>
            <a:endParaRPr lang="en-US" dirty="0"/>
          </a:p>
        </p:txBody>
      </p:sp>
    </p:spTree>
    <p:extLst>
      <p:ext uri="{BB962C8B-B14F-4D97-AF65-F5344CB8AC3E}">
        <p14:creationId xmlns:p14="http://schemas.microsoft.com/office/powerpoint/2010/main" val="1903401793"/>
      </p:ext>
    </p:extLst>
  </p:cSld>
  <p:clrMapOvr>
    <a:masterClrMapping/>
  </p:clrMapOvr>
</p:sld>
</file>

<file path=ppt/theme/theme1.xml><?xml version="1.0" encoding="utf-8"?>
<a:theme xmlns:a="http://schemas.openxmlformats.org/drawingml/2006/main" name="2_Custom Design">
  <a:themeElements>
    <a:clrScheme name="Revature">
      <a:dk1>
        <a:sysClr val="windowText" lastClr="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vature Template  101416" id="{E7AE9B54-ECDF-468C-BAC8-D7E5033F34EC}" vid="{F6400A2A-47B1-4620-B2AC-EFF1DCD888C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Revature Template  101416</Template>
  <TotalTime>8067</TotalTime>
  <Words>2462</Words>
  <Application>Microsoft Office PowerPoint</Application>
  <PresentationFormat>On-screen Show (4:3)</PresentationFormat>
  <Paragraphs>225</Paragraphs>
  <Slides>34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Courier New</vt:lpstr>
      <vt:lpstr>2_Custom Design</vt:lpstr>
      <vt:lpstr>Introduction to AI + ML</vt:lpstr>
      <vt:lpstr>Outline</vt:lpstr>
      <vt:lpstr>PowerPoint Presentation</vt:lpstr>
      <vt:lpstr>Intro to AI</vt:lpstr>
      <vt:lpstr>Three Common “Levels” of AI</vt:lpstr>
      <vt:lpstr>AI Intro (cont)</vt:lpstr>
      <vt:lpstr>AI Subsets</vt:lpstr>
      <vt:lpstr>PowerPoint Presentation</vt:lpstr>
      <vt:lpstr>Machine Learning</vt:lpstr>
      <vt:lpstr>Machine Learning | Key Terms</vt:lpstr>
      <vt:lpstr>Machine Learning | Why?</vt:lpstr>
      <vt:lpstr>PowerPoint Presentation</vt:lpstr>
      <vt:lpstr>Machine Learning Types</vt:lpstr>
      <vt:lpstr>Supervised Learning</vt:lpstr>
      <vt:lpstr>Unsupervised Learning</vt:lpstr>
      <vt:lpstr>Supervised vs Unsupervised Learning</vt:lpstr>
      <vt:lpstr>PowerPoint Presentation</vt:lpstr>
      <vt:lpstr>Deep Learning</vt:lpstr>
      <vt:lpstr>Deep Learning | Layers</vt:lpstr>
      <vt:lpstr>Deep Learning</vt:lpstr>
      <vt:lpstr>PowerPoint Presentation</vt:lpstr>
      <vt:lpstr>Intro to Generative AI</vt:lpstr>
      <vt:lpstr>How does GenAI work?</vt:lpstr>
      <vt:lpstr>How does GenAI work?</vt:lpstr>
      <vt:lpstr>Intro to Generative AI</vt:lpstr>
      <vt:lpstr>Intro to Generative AI</vt:lpstr>
      <vt:lpstr>PowerPoint Presentation</vt:lpstr>
      <vt:lpstr>Gen AI in Text Generation</vt:lpstr>
      <vt:lpstr>Examples of Text Generation Applications</vt:lpstr>
      <vt:lpstr>Generative AI in Image Generation</vt:lpstr>
      <vt:lpstr>Examples of Image Generation Applications</vt:lpstr>
      <vt:lpstr>Pros of Generative AI</vt:lpstr>
      <vt:lpstr>Cons of Generative AI</vt:lpstr>
      <vt:lpstr>PowerPoint Presentation</vt:lpstr>
    </vt:vector>
  </TitlesOfParts>
  <Company>Persistence Holdings, LLC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account 10</dc:creator>
  <cp:lastModifiedBy>Joseph Highe</cp:lastModifiedBy>
  <cp:revision>15</cp:revision>
  <cp:lastPrinted>2016-06-20T20:58:50Z</cp:lastPrinted>
  <dcterms:created xsi:type="dcterms:W3CDTF">2016-11-09T18:19:08Z</dcterms:created>
  <dcterms:modified xsi:type="dcterms:W3CDTF">2026-10-30T12:43:04Z</dcterms:modified>
</cp:coreProperties>
</file>